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7" r:id="rId6"/>
    <p:sldId id="266" r:id="rId7"/>
    <p:sldId id="268" r:id="rId8"/>
    <p:sldId id="269" r:id="rId9"/>
    <p:sldId id="270" r:id="rId10"/>
    <p:sldId id="271" r:id="rId11"/>
    <p:sldId id="272" r:id="rId12"/>
    <p:sldId id="273" r:id="rId13"/>
    <p:sldId id="274" r:id="rId14"/>
    <p:sldId id="292" r:id="rId15"/>
    <p:sldId id="293"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72" y="18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7244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8E1AD-84E0-B032-679D-5DF6B2A20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D99D4B-D98C-7679-EE49-5D724DA636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061FC0-0F69-E36E-11A0-3D86962EE3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B67637-4549-EA27-292E-EFF0E340DCCF}"/>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4143139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8898C-7423-AC28-B5FA-854E4963C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7A2B7-D2C1-62DA-9633-0FCF484C3F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7B9AA-9BE7-6C64-42AF-6110606E8C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483F21-D6CE-8253-E799-A5BC647AE5F1}"/>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7282894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txBody>
          <a:bodyPr/>
          <a:lstStyle/>
          <a:p>
            <a:endParaRPr lang="es-419"/>
          </a:p>
        </p:txBody>
      </p:sp>
      <p:sp>
        <p:nvSpPr>
          <p:cNvPr id="3" name="Text 1"/>
          <p:cNvSpPr/>
          <p:nvPr/>
        </p:nvSpPr>
        <p:spPr>
          <a:xfrm>
            <a:off x="640080" y="1463040"/>
            <a:ext cx="7863840" cy="146304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Music Track Mixer</a:t>
            </a:r>
            <a:endParaRPr lang="en-US" sz="3600" dirty="0"/>
          </a:p>
        </p:txBody>
      </p:sp>
      <p:sp>
        <p:nvSpPr>
          <p:cNvPr id="4" name="Text 2"/>
          <p:cNvSpPr/>
          <p:nvPr/>
        </p:nvSpPr>
        <p:spPr>
          <a:xfrm>
            <a:off x="640080" y="3017519"/>
            <a:ext cx="7863840" cy="1463039"/>
          </a:xfrm>
          <a:prstGeom prst="rect">
            <a:avLst/>
          </a:prstGeom>
          <a:noFill/>
          <a:ln/>
        </p:spPr>
        <p:txBody>
          <a:bodyPr wrap="square" rtlCol="0" anchor="ctr"/>
          <a:lstStyle/>
          <a:p>
            <a:pPr marL="0" indent="0" algn="ctr">
              <a:buNone/>
            </a:pPr>
            <a:r>
              <a:rPr lang="en-US" sz="1800" dirty="0">
                <a:solidFill>
                  <a:srgbClr val="5EEAD4"/>
                </a:solidFill>
                <a:latin typeface="Calibri" pitchFamily="34" charset="0"/>
                <a:ea typeface="Calibri" pitchFamily="34" charset="-122"/>
                <a:cs typeface="Calibri" pitchFamily="34" charset="-120"/>
              </a:rPr>
              <a:t>Generación de melodías con Algoritmos Genéticos y NCD</a:t>
            </a:r>
            <a:endParaRPr lang="en-US" sz="1800" dirty="0"/>
          </a:p>
          <a:p>
            <a:pPr marL="0" indent="0" algn="ctr">
              <a:buNone/>
            </a:pPr>
            <a:r>
              <a:rPr lang="en-US" sz="1800" dirty="0">
                <a:solidFill>
                  <a:srgbClr val="5EEAD4"/>
                </a:solidFill>
                <a:latin typeface="Calibri" pitchFamily="34" charset="0"/>
                <a:ea typeface="Calibri" pitchFamily="34" charset="-122"/>
                <a:cs typeface="Calibri" pitchFamily="34" charset="-120"/>
              </a:rPr>
              <a:t>Proyecto Final – Inteligencia </a:t>
            </a:r>
            <a:r>
              <a:rPr lang="en-US" sz="1800">
                <a:solidFill>
                  <a:srgbClr val="5EEAD4"/>
                </a:solidFill>
                <a:latin typeface="Calibri" pitchFamily="34" charset="0"/>
                <a:ea typeface="Calibri" pitchFamily="34" charset="-122"/>
                <a:cs typeface="Calibri" pitchFamily="34" charset="-120"/>
              </a:rPr>
              <a:t>Artificial I</a:t>
            </a:r>
          </a:p>
          <a:p>
            <a:pPr marL="0" indent="0" algn="ctr">
              <a:buNone/>
            </a:pPr>
            <a:endParaRPr lang="en-US" sz="1800">
              <a:solidFill>
                <a:srgbClr val="5EEAD4"/>
              </a:solidFill>
              <a:latin typeface="Calibri" pitchFamily="34" charset="0"/>
              <a:ea typeface="Calibri" pitchFamily="34" charset="-122"/>
              <a:cs typeface="Calibri" pitchFamily="34" charset="-120"/>
            </a:endParaRPr>
          </a:p>
          <a:p>
            <a:pPr marL="0" indent="0" algn="ctr">
              <a:buNone/>
            </a:pPr>
            <a:r>
              <a:rPr lang="en-US">
                <a:solidFill>
                  <a:srgbClr val="5EEAD4"/>
                </a:solidFill>
                <a:latin typeface="Calibri" pitchFamily="34" charset="0"/>
                <a:ea typeface="Calibri" pitchFamily="34" charset="-122"/>
                <a:cs typeface="Calibri" pitchFamily="34" charset="-120"/>
              </a:rPr>
              <a:t>Francisco Alba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Contenido de la presentación</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457200" y="1348003"/>
            <a:ext cx="3840480" cy="2999820"/>
          </a:xfrm>
          <a:prstGeom prst="rect">
            <a:avLst/>
          </a:prstGeom>
          <a:noFill/>
          <a:ln/>
        </p:spPr>
        <p:txBody>
          <a:bodyPr wrap="square" rtlCol="0" anchor="t"/>
          <a:lstStyle/>
          <a:p>
            <a:pPr marL="0" indent="0">
              <a:spcAft>
                <a:spcPts val="800"/>
              </a:spcAft>
              <a:buNone/>
            </a:pPr>
            <a:r>
              <a:rPr lang="en-US" sz="1400" dirty="0">
                <a:solidFill>
                  <a:srgbClr val="1A1A2E"/>
                </a:solidFill>
                <a:latin typeface="Calibri" pitchFamily="34" charset="0"/>
                <a:ea typeface="Calibri" pitchFamily="34" charset="-122"/>
                <a:cs typeface="Calibri" pitchFamily="34" charset="-120"/>
              </a:rPr>
              <a:t>1</a:t>
            </a:r>
            <a:r>
              <a:rPr lang="en-US" sz="1400">
                <a:solidFill>
                  <a:srgbClr val="1A1A2E"/>
                </a:solidFill>
                <a:latin typeface="Calibri" pitchFamily="34" charset="0"/>
                <a:ea typeface="Calibri" pitchFamily="34" charset="-122"/>
                <a:cs typeface="Calibri" pitchFamily="34" charset="-120"/>
              </a:rPr>
              <a:t>. Objetivo</a:t>
            </a:r>
            <a:endParaRPr lang="en-US" sz="1400" dirty="0"/>
          </a:p>
          <a:p>
            <a:pPr marL="0" indent="0">
              <a:spcAft>
                <a:spcPts val="800"/>
              </a:spcAft>
              <a:buNone/>
            </a:pPr>
            <a:r>
              <a:rPr lang="en-US" sz="1400">
                <a:solidFill>
                  <a:srgbClr val="1A1A2E"/>
                </a:solidFill>
                <a:latin typeface="Calibri" pitchFamily="34" charset="0"/>
                <a:ea typeface="Calibri" pitchFamily="34" charset="-122"/>
                <a:cs typeface="Calibri" pitchFamily="34" charset="-120"/>
              </a:rPr>
              <a:t>3. </a:t>
            </a:r>
            <a:r>
              <a:rPr lang="en-US" sz="1400" dirty="0">
                <a:solidFill>
                  <a:srgbClr val="1A1A2E"/>
                </a:solidFill>
                <a:latin typeface="Calibri" pitchFamily="34" charset="0"/>
                <a:ea typeface="Calibri" pitchFamily="34" charset="-122"/>
                <a:cs typeface="Calibri" pitchFamily="34" charset="-120"/>
              </a:rPr>
              <a:t>Diseño experimental</a:t>
            </a:r>
            <a:endParaRPr lang="en-US" sz="1400" dirty="0"/>
          </a:p>
          <a:p>
            <a:pPr marL="0" indent="0">
              <a:spcAft>
                <a:spcPts val="800"/>
              </a:spcAft>
              <a:buNone/>
            </a:pPr>
            <a:r>
              <a:rPr lang="en-US" sz="1400">
                <a:solidFill>
                  <a:srgbClr val="1A1A2E"/>
                </a:solidFill>
                <a:latin typeface="Calibri" pitchFamily="34" charset="0"/>
                <a:ea typeface="Calibri" pitchFamily="34" charset="-122"/>
                <a:cs typeface="Calibri" pitchFamily="34" charset="-120"/>
              </a:rPr>
              <a:t>4. </a:t>
            </a:r>
            <a:r>
              <a:rPr lang="en-US" sz="1400" dirty="0">
                <a:solidFill>
                  <a:srgbClr val="1A1A2E"/>
                </a:solidFill>
                <a:latin typeface="Calibri" pitchFamily="34" charset="0"/>
                <a:ea typeface="Calibri" pitchFamily="34" charset="-122"/>
                <a:cs typeface="Calibri" pitchFamily="34" charset="-120"/>
              </a:rPr>
              <a:t>Estrategias evaluadas</a:t>
            </a:r>
            <a:endParaRPr lang="en-US" sz="1400" dirty="0"/>
          </a:p>
          <a:p>
            <a:pPr marL="0" indent="0">
              <a:spcAft>
                <a:spcPts val="800"/>
              </a:spcAft>
              <a:buNone/>
            </a:pPr>
            <a:r>
              <a:rPr lang="en-US" sz="1400">
                <a:solidFill>
                  <a:srgbClr val="1A1A2E"/>
                </a:solidFill>
                <a:latin typeface="Calibri" pitchFamily="34" charset="0"/>
                <a:ea typeface="Calibri" pitchFamily="34" charset="-122"/>
                <a:cs typeface="Calibri" pitchFamily="34" charset="-120"/>
              </a:rPr>
              <a:t>5. </a:t>
            </a:r>
            <a:r>
              <a:rPr lang="en-US" sz="1400" dirty="0">
                <a:solidFill>
                  <a:srgbClr val="1A1A2E"/>
                </a:solidFill>
                <a:latin typeface="Calibri" pitchFamily="34" charset="0"/>
                <a:ea typeface="Calibri" pitchFamily="34" charset="-122"/>
                <a:cs typeface="Calibri" pitchFamily="34" charset="-120"/>
              </a:rPr>
              <a:t>Evolución de tonos relativos </a:t>
            </a:r>
            <a:r>
              <a:rPr lang="en-US" sz="1400">
                <a:solidFill>
                  <a:srgbClr val="1A1A2E"/>
                </a:solidFill>
                <a:latin typeface="Calibri" pitchFamily="34" charset="0"/>
                <a:ea typeface="Calibri" pitchFamily="34" charset="-122"/>
                <a:cs typeface="Calibri" pitchFamily="34" charset="-120"/>
              </a:rPr>
              <a:t>– experimentos</a:t>
            </a:r>
          </a:p>
          <a:p>
            <a:pPr>
              <a:spcAft>
                <a:spcPts val="800"/>
              </a:spcAft>
            </a:pPr>
            <a:r>
              <a:rPr lang="en-US" sz="1400">
                <a:solidFill>
                  <a:srgbClr val="1A1A2E"/>
                </a:solidFill>
                <a:latin typeface="Calibri" pitchFamily="34" charset="0"/>
                <a:ea typeface="Calibri" pitchFamily="34" charset="-122"/>
                <a:cs typeface="Calibri" pitchFamily="34" charset="-120"/>
              </a:rPr>
              <a:t>7. Análisis de la distribución tonal</a:t>
            </a:r>
            <a:endParaRPr lang="en-US" sz="1400"/>
          </a:p>
          <a:p>
            <a:pPr>
              <a:spcAft>
                <a:spcPts val="800"/>
              </a:spcAft>
            </a:pPr>
            <a:r>
              <a:rPr lang="en-US" sz="1400">
                <a:solidFill>
                  <a:srgbClr val="1A1A2E"/>
                </a:solidFill>
                <a:latin typeface="Calibri" pitchFamily="34" charset="0"/>
                <a:ea typeface="Calibri" pitchFamily="34" charset="-122"/>
                <a:cs typeface="Calibri" pitchFamily="34" charset="-120"/>
              </a:rPr>
              <a:t>8. Evolución de duraciones de notas</a:t>
            </a:r>
            <a:endParaRPr lang="en-US" sz="1400"/>
          </a:p>
          <a:p>
            <a:pPr>
              <a:spcAft>
                <a:spcPts val="800"/>
              </a:spcAft>
            </a:pPr>
            <a:r>
              <a:rPr lang="en-US" sz="1400">
                <a:solidFill>
                  <a:srgbClr val="1A1A2E"/>
                </a:solidFill>
                <a:latin typeface="Calibri" pitchFamily="34" charset="0"/>
                <a:ea typeface="Calibri" pitchFamily="34" charset="-122"/>
                <a:cs typeface="Calibri" pitchFamily="34" charset="-120"/>
              </a:rPr>
              <a:t>9. Análisis de la distribución temporal</a:t>
            </a:r>
            <a:endParaRPr lang="en-US" sz="1400"/>
          </a:p>
          <a:p>
            <a:pPr>
              <a:spcAft>
                <a:spcPts val="800"/>
              </a:spcAft>
            </a:pPr>
            <a:r>
              <a:rPr lang="en-US" sz="1400">
                <a:solidFill>
                  <a:srgbClr val="1A1A2E"/>
                </a:solidFill>
                <a:latin typeface="Calibri" pitchFamily="34" charset="0"/>
                <a:ea typeface="Calibri" pitchFamily="34" charset="-122"/>
                <a:cs typeface="Calibri" pitchFamily="34" charset="-120"/>
              </a:rPr>
              <a:t>10. Encuesta perceptiva</a:t>
            </a:r>
            <a:endParaRPr lang="en-US" sz="1400"/>
          </a:p>
          <a:p>
            <a:pPr>
              <a:spcAft>
                <a:spcPts val="800"/>
              </a:spcAft>
            </a:pPr>
            <a:r>
              <a:rPr lang="en-US" sz="1400">
                <a:solidFill>
                  <a:srgbClr val="1A1A2E"/>
                </a:solidFill>
                <a:latin typeface="Calibri" pitchFamily="34" charset="0"/>
                <a:ea typeface="Calibri" pitchFamily="34" charset="-122"/>
                <a:cs typeface="Calibri" pitchFamily="34" charset="-120"/>
              </a:rPr>
              <a:t>11. Conclusiones</a:t>
            </a:r>
            <a:endParaRPr lang="en-US" sz="1400"/>
          </a:p>
          <a:p>
            <a:pPr marL="0" indent="0">
              <a:spcAft>
                <a:spcPts val="800"/>
              </a:spcAft>
              <a:buNone/>
            </a:pP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a:solidFill>
                  <a:srgbClr val="FFFFFF"/>
                </a:solidFill>
                <a:latin typeface="Cambria" pitchFamily="34" charset="0"/>
                <a:ea typeface="Cambria" pitchFamily="34" charset="-122"/>
                <a:cs typeface="Cambria" pitchFamily="34" charset="-120"/>
              </a:rPr>
              <a:t>Objetivo</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¿Qué se busca estudiar?</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457200" y="1005840"/>
            <a:ext cx="8229600" cy="3657600"/>
          </a:xfrm>
          <a:prstGeom prst="rect">
            <a:avLst/>
          </a:prstGeom>
          <a:noFill/>
          <a:ln/>
        </p:spPr>
        <p:txBody>
          <a:bodyPr wrap="square" rtlCol="0" anchor="t"/>
          <a:lstStyle/>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Objetivo: estudiar si un Algoritmo Genético (AG) puede </a:t>
            </a:r>
            <a:r>
              <a:rPr lang="en-US" sz="1500">
                <a:solidFill>
                  <a:srgbClr val="1A1A2E"/>
                </a:solidFill>
                <a:latin typeface="Calibri" pitchFamily="34" charset="0"/>
                <a:ea typeface="Calibri" pitchFamily="34" charset="-122"/>
                <a:cs typeface="Calibri" pitchFamily="34" charset="-120"/>
              </a:rPr>
              <a:t>generar una secuencia melódica nueva que evoque aspectos musicales de dos pistas MIDI de referencia.</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Pistas guía: Overworld (Super Mario Bros.) y Let It Be (The Beatles).</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Métrica central: Normalized Compression Distance (NCD), empleada como función de similitud y como base del </a:t>
            </a:r>
            <a:r>
              <a:rPr lang="en-US" sz="1500">
                <a:solidFill>
                  <a:srgbClr val="1A1A2E"/>
                </a:solidFill>
                <a:latin typeface="Calibri" pitchFamily="34" charset="0"/>
                <a:ea typeface="Calibri" pitchFamily="34" charset="-122"/>
                <a:cs typeface="Calibri" pitchFamily="34" charset="-120"/>
              </a:rPr>
              <a:t>fitness.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2">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Diseño Experimental</a:t>
            </a:r>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Archivos MIDI y Preprocesamiento</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457200" y="1005840"/>
            <a:ext cx="8229600" cy="3657600"/>
          </a:xfrm>
          <a:prstGeom prst="rect">
            <a:avLst/>
          </a:prstGeom>
          <a:noFill/>
          <a:ln/>
        </p:spPr>
        <p:txBody>
          <a:bodyPr wrap="square" rtlCol="0" anchor="t"/>
          <a:lstStyle/>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Pistas guía: Overworld (Super Mario Bros.) y Let It Be (The Beatles). Melodías reconocibles y contrastantes.</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Se extrae únicamente la pista melódica principal (instruments[0]) descartando armonías y acompañamientos.</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De cada nota se obtiene: pitch, velocity, start y end.</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Longitud homogénea: la secuencia más larga se recorta al tamaño de la más corta.</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Individuos del AG: secuencias de longitud fija (50 o 75 elementos según el experimento).</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Reconstrucción: el archivo MIDI resultado reutiliza duraciones/velocidades originales; solo el atributo evolucionado cambia.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a:solidFill>
                  <a:srgbClr val="0F3460"/>
                </a:solidFill>
                <a:latin typeface="Cambria" pitchFamily="34" charset="0"/>
                <a:ea typeface="Cambria" pitchFamily="34" charset="-122"/>
                <a:cs typeface="Cambria" pitchFamily="34" charset="-120"/>
              </a:rPr>
              <a:t>Parámetros del </a:t>
            </a:r>
            <a:r>
              <a:rPr lang="en-US" sz="2600" b="1" dirty="0">
                <a:solidFill>
                  <a:srgbClr val="0F3460"/>
                </a:solidFill>
                <a:latin typeface="Cambria" pitchFamily="34" charset="0"/>
                <a:ea typeface="Cambria" pitchFamily="34" charset="-122"/>
                <a:cs typeface="Cambria" pitchFamily="34" charset="-120"/>
              </a:rPr>
              <a:t>Experimento</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graphicFrame>
        <p:nvGraphicFramePr>
          <p:cNvPr id="14" name="Table 0"/>
          <p:cNvGraphicFramePr>
            <a:graphicFrameLocks noGrp="1"/>
          </p:cNvGraphicFramePr>
          <p:nvPr>
            <p:extLst>
              <p:ext uri="{D42A27DB-BD31-4B8C-83A1-F6EECF244321}">
                <p14:modId xmlns:p14="http://schemas.microsoft.com/office/powerpoint/2010/main" val="2099167217"/>
              </p:ext>
            </p:extLst>
          </p:nvPr>
        </p:nvGraphicFramePr>
        <p:xfrm>
          <a:off x="457200" y="1005840"/>
          <a:ext cx="8229600" cy="3785616"/>
        </p:xfrm>
        <a:graphic>
          <a:graphicData uri="http://schemas.openxmlformats.org/drawingml/2006/table">
            <a:tbl>
              <a:tblPr/>
              <a:tblGrid>
                <a:gridCol w="36576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42062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Parámetro</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Valor</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extLst>
                  <a:ext uri="{0D108BD9-81ED-4DB2-BD59-A6C34878D82A}">
                    <a16:rowId xmlns:a16="http://schemas.microsoft.com/office/drawing/2014/main" val="10000"/>
                  </a:ext>
                </a:extLst>
              </a:tr>
              <a:tr h="420624">
                <a:tc>
                  <a:txBody>
                    <a:bodyPr/>
                    <a:lstStyle/>
                    <a:p>
                      <a:pPr marL="0" indent="0">
                        <a:buNone/>
                      </a:pPr>
                      <a:r>
                        <a:rPr lang="en-US" sz="1200" b="1" dirty="0">
                          <a:solidFill>
                            <a:srgbClr val="1A1A2E"/>
                          </a:solidFill>
                          <a:latin typeface="Calibri" pitchFamily="34" charset="0"/>
                          <a:ea typeface="Calibri" pitchFamily="34" charset="-122"/>
                          <a:cs typeface="Calibri" pitchFamily="34" charset="-120"/>
                        </a:rPr>
                        <a:t>Tamaño de población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500 individuos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200" b="1" dirty="0">
                          <a:solidFill>
                            <a:srgbClr val="1A1A2E"/>
                          </a:solidFill>
                          <a:latin typeface="Calibri" pitchFamily="34" charset="0"/>
                          <a:ea typeface="Calibri" pitchFamily="34" charset="-122"/>
                          <a:cs typeface="Calibri" pitchFamily="34" charset="-120"/>
                        </a:rPr>
                        <a:t>Longitud del individuo</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50 o 75 tonos relativos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200" b="1" dirty="0">
                          <a:solidFill>
                            <a:srgbClr val="1A1A2E"/>
                          </a:solidFill>
                          <a:latin typeface="Calibri" pitchFamily="34" charset="0"/>
                          <a:ea typeface="Calibri" pitchFamily="34" charset="-122"/>
                          <a:cs typeface="Calibri" pitchFamily="34" charset="-120"/>
                        </a:rPr>
                        <a:t>Elitismo</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2 mejores individuos preservados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200" b="1" dirty="0">
                          <a:solidFill>
                            <a:srgbClr val="1A1A2E"/>
                          </a:solidFill>
                          <a:latin typeface="Calibri" pitchFamily="34" charset="0"/>
                          <a:ea typeface="Calibri" pitchFamily="34" charset="-122"/>
                          <a:cs typeface="Calibri" pitchFamily="34" charset="-120"/>
                        </a:rPr>
                        <a:t>Mutación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Un tono aleatorio por individuo, delta ∈ [-2, 2]</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buNone/>
                      </a:pPr>
                      <a:r>
                        <a:rPr lang="en-US" sz="1200" b="1" dirty="0">
                          <a:solidFill>
                            <a:srgbClr val="1A1A2E"/>
                          </a:solidFill>
                          <a:latin typeface="Calibri" pitchFamily="34" charset="0"/>
                          <a:ea typeface="Calibri" pitchFamily="34" charset="-122"/>
                          <a:cs typeface="Calibri" pitchFamily="34" charset="-120"/>
                        </a:rPr>
                        <a:t>Inicialización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Aleatoria uniforme en [-20, 20]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buNone/>
                      </a:pPr>
                      <a:r>
                        <a:rPr lang="en-US" sz="1200" b="1" dirty="0">
                          <a:solidFill>
                            <a:srgbClr val="1A1A2E"/>
                          </a:solidFill>
                          <a:latin typeface="Calibri" pitchFamily="34" charset="0"/>
                          <a:ea typeface="Calibri" pitchFamily="34" charset="-122"/>
                          <a:cs typeface="Calibri" pitchFamily="34" charset="-120"/>
                        </a:rPr>
                        <a:t>Ejecuciones por estrategia</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a:solidFill>
                            <a:srgbClr val="1A1A2E"/>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420624">
                <a:tc>
                  <a:txBody>
                    <a:bodyPr/>
                    <a:lstStyle/>
                    <a:p>
                      <a:pPr marL="0" indent="0">
                        <a:buNone/>
                      </a:pPr>
                      <a:r>
                        <a:rPr lang="en-US" sz="1200" b="1" dirty="0">
                          <a:solidFill>
                            <a:srgbClr val="1A1A2E"/>
                          </a:solidFill>
                          <a:latin typeface="Calibri" pitchFamily="34" charset="0"/>
                          <a:ea typeface="Calibri" pitchFamily="34" charset="-122"/>
                          <a:cs typeface="Calibri" pitchFamily="34" charset="-120"/>
                        </a:rPr>
                        <a:t>Generaciones evaluadas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100 y 1000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420624">
                <a:tc>
                  <a:txBody>
                    <a:bodyPr/>
                    <a:lstStyle/>
                    <a:p>
                      <a:pPr marL="0" indent="0">
                        <a:buNone/>
                      </a:pPr>
                      <a:r>
                        <a:rPr lang="en-US" sz="1200" b="1" dirty="0">
                          <a:solidFill>
                            <a:srgbClr val="1A1A2E"/>
                          </a:solidFill>
                          <a:latin typeface="Calibri" pitchFamily="34" charset="0"/>
                          <a:ea typeface="Calibri" pitchFamily="34" charset="-122"/>
                          <a:cs typeface="Calibri" pitchFamily="34" charset="-120"/>
                        </a:rPr>
                        <a:t>Función de fitness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1 − 0.5·NCD(ind, Overworld) − 0.5·NCD(ind, Let It Be)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Métricas de Evaluación</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457200" y="1005840"/>
            <a:ext cx="8229600" cy="3657600"/>
          </a:xfrm>
          <a:prstGeom prst="rect">
            <a:avLst/>
          </a:prstGeom>
          <a:noFill/>
          <a:ln/>
        </p:spPr>
        <p:txBody>
          <a:bodyPr wrap="square" rtlCol="0" anchor="t"/>
          <a:lstStyle/>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Mejor valor de fitness alcanzado: grado máximo de similitud respecto a las pistas guía.</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Promedio y desviación estándar del fitness: estabilidad y robustez entre las 30 ejecuciones.</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Curvas de convergencia: evolución del fitness a lo largo de las generaciones (mejor, promedio, mínimo).</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Tiempos de ejecución: comparación de eficiencia computacional entre estrategias.</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Distribución tonal / temporal: comparación gráfica entre la salida del AG y las pistas guía.</a:t>
            </a:r>
            <a:endParaRPr lang="en-US" sz="1500" dirty="0"/>
          </a:p>
          <a:p>
            <a:pPr marL="342900" indent="-342900">
              <a:spcAft>
                <a:spcPts val="600"/>
              </a:spcAft>
              <a:buSzPct val="100000"/>
              <a:buChar char="•"/>
            </a:pPr>
            <a:r>
              <a:rPr lang="en-US" sz="1500">
                <a:solidFill>
                  <a:srgbClr val="1A1A2E"/>
                </a:solidFill>
                <a:latin typeface="Calibri" pitchFamily="34" charset="0"/>
                <a:ea typeface="Calibri" pitchFamily="34" charset="-122"/>
                <a:cs typeface="Calibri" pitchFamily="34" charset="-120"/>
              </a:rPr>
              <a:t>Encuesta perceptiva: </a:t>
            </a:r>
            <a:r>
              <a:rPr lang="en-US" sz="1500" dirty="0">
                <a:solidFill>
                  <a:srgbClr val="1A1A2E"/>
                </a:solidFill>
                <a:latin typeface="Calibri" pitchFamily="34" charset="0"/>
                <a:ea typeface="Calibri" pitchFamily="34" charset="-122"/>
                <a:cs typeface="Calibri" pitchFamily="34" charset="-120"/>
              </a:rPr>
              <a:t>validación subjetiva complementaria – calidad musical percibida.</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Estrategias de Recombinación Evaluadas</a:t>
            </a: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Las 7 Estrategias</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Shape 2"/>
          <p:cNvSpPr/>
          <p:nvPr/>
        </p:nvSpPr>
        <p:spPr>
          <a:xfrm>
            <a:off x="457200" y="1005840"/>
            <a:ext cx="4069080" cy="868680"/>
          </a:xfrm>
          <a:prstGeom prst="roundRect">
            <a:avLst>
              <a:gd name="adj" fmla="val 8421"/>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5" name="Text 3"/>
          <p:cNvSpPr/>
          <p:nvPr/>
        </p:nvSpPr>
        <p:spPr>
          <a:xfrm>
            <a:off x="548640" y="1051560"/>
            <a:ext cx="502920" cy="777240"/>
          </a:xfrm>
          <a:prstGeom prst="rect">
            <a:avLst/>
          </a:prstGeom>
          <a:noFill/>
          <a:ln/>
        </p:spPr>
        <p:txBody>
          <a:bodyPr wrap="square" lIns="0" tIns="0" rIns="0" bIns="0" rtlCol="0" anchor="ctr"/>
          <a:lstStyle/>
          <a:p>
            <a:pPr marL="0" indent="0" algn="ctr">
              <a:buNone/>
            </a:pPr>
            <a:r>
              <a:rPr lang="en-US" sz="1600" b="1" dirty="0">
                <a:solidFill>
                  <a:srgbClr val="0D9488"/>
                </a:solidFill>
                <a:latin typeface="Cambria" pitchFamily="34" charset="0"/>
                <a:ea typeface="Cambria" pitchFamily="34" charset="-122"/>
                <a:cs typeface="Cambria" pitchFamily="34" charset="-120"/>
              </a:rPr>
              <a:t>E1</a:t>
            </a:r>
            <a:endParaRPr lang="en-US" sz="1600" dirty="0"/>
          </a:p>
        </p:txBody>
      </p:sp>
      <p:sp>
        <p:nvSpPr>
          <p:cNvPr id="6" name="Text 4"/>
          <p:cNvSpPr/>
          <p:nvPr/>
        </p:nvSpPr>
        <p:spPr>
          <a:xfrm>
            <a:off x="1097280" y="1078992"/>
            <a:ext cx="3291840" cy="73152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Siempre recombinación de </a:t>
            </a:r>
            <a:r>
              <a:rPr lang="en-US" sz="1200" b="1" dirty="0">
                <a:solidFill>
                  <a:srgbClr val="1A1A2E"/>
                </a:solidFill>
                <a:latin typeface="Calibri" pitchFamily="34" charset="0"/>
                <a:ea typeface="Calibri" pitchFamily="34" charset="-122"/>
                <a:cs typeface="Calibri" pitchFamily="34" charset="-120"/>
              </a:rPr>
              <a:t>1 punto</a:t>
            </a:r>
            <a:r>
              <a:rPr lang="en-US" sz="1200" dirty="0">
                <a:solidFill>
                  <a:srgbClr val="1A1A2E"/>
                </a:solidFill>
                <a:latin typeface="Calibri" pitchFamily="34" charset="0"/>
                <a:ea typeface="Calibri" pitchFamily="34" charset="-122"/>
                <a:cs typeface="Calibri" pitchFamily="34" charset="-120"/>
              </a:rPr>
              <a:t>.</a:t>
            </a:r>
            <a:endParaRPr lang="en-US" sz="1200" dirty="0"/>
          </a:p>
        </p:txBody>
      </p:sp>
      <p:sp>
        <p:nvSpPr>
          <p:cNvPr id="7" name="Shape 5"/>
          <p:cNvSpPr/>
          <p:nvPr/>
        </p:nvSpPr>
        <p:spPr>
          <a:xfrm>
            <a:off x="457200" y="2011680"/>
            <a:ext cx="4069080" cy="868680"/>
          </a:xfrm>
          <a:prstGeom prst="roundRect">
            <a:avLst>
              <a:gd name="adj" fmla="val 8421"/>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8" name="Text 6"/>
          <p:cNvSpPr/>
          <p:nvPr/>
        </p:nvSpPr>
        <p:spPr>
          <a:xfrm>
            <a:off x="548640" y="2057400"/>
            <a:ext cx="502920" cy="777240"/>
          </a:xfrm>
          <a:prstGeom prst="rect">
            <a:avLst/>
          </a:prstGeom>
          <a:noFill/>
          <a:ln/>
        </p:spPr>
        <p:txBody>
          <a:bodyPr wrap="square" lIns="0" tIns="0" rIns="0" bIns="0" rtlCol="0" anchor="ctr"/>
          <a:lstStyle/>
          <a:p>
            <a:pPr marL="0" indent="0" algn="ctr">
              <a:buNone/>
            </a:pPr>
            <a:r>
              <a:rPr lang="en-US" sz="1600" b="1" dirty="0">
                <a:solidFill>
                  <a:srgbClr val="0D9488"/>
                </a:solidFill>
                <a:latin typeface="Cambria" pitchFamily="34" charset="0"/>
                <a:ea typeface="Cambria" pitchFamily="34" charset="-122"/>
                <a:cs typeface="Cambria" pitchFamily="34" charset="-120"/>
              </a:rPr>
              <a:t>E2</a:t>
            </a:r>
            <a:endParaRPr lang="en-US" sz="1600" dirty="0"/>
          </a:p>
        </p:txBody>
      </p:sp>
      <p:sp>
        <p:nvSpPr>
          <p:cNvPr id="9" name="Text 7"/>
          <p:cNvSpPr/>
          <p:nvPr/>
        </p:nvSpPr>
        <p:spPr>
          <a:xfrm>
            <a:off x="1097280" y="2084832"/>
            <a:ext cx="3291840" cy="73152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Siempre recombinación de </a:t>
            </a:r>
            <a:r>
              <a:rPr lang="en-US" sz="1200" b="1" dirty="0">
                <a:solidFill>
                  <a:srgbClr val="1A1A2E"/>
                </a:solidFill>
                <a:latin typeface="Calibri" pitchFamily="34" charset="0"/>
                <a:ea typeface="Calibri" pitchFamily="34" charset="-122"/>
                <a:cs typeface="Calibri" pitchFamily="34" charset="-120"/>
              </a:rPr>
              <a:t>2 puntos</a:t>
            </a:r>
            <a:r>
              <a:rPr lang="en-US" sz="1200" dirty="0">
                <a:solidFill>
                  <a:srgbClr val="1A1A2E"/>
                </a:solidFill>
                <a:latin typeface="Calibri" pitchFamily="34" charset="0"/>
                <a:ea typeface="Calibri" pitchFamily="34" charset="-122"/>
                <a:cs typeface="Calibri" pitchFamily="34" charset="-120"/>
              </a:rPr>
              <a:t>.</a:t>
            </a:r>
            <a:endParaRPr lang="en-US" sz="1200" dirty="0"/>
          </a:p>
        </p:txBody>
      </p:sp>
      <p:sp>
        <p:nvSpPr>
          <p:cNvPr id="10" name="Shape 8"/>
          <p:cNvSpPr/>
          <p:nvPr/>
        </p:nvSpPr>
        <p:spPr>
          <a:xfrm>
            <a:off x="457200" y="3017520"/>
            <a:ext cx="4069080" cy="868680"/>
          </a:xfrm>
          <a:prstGeom prst="roundRect">
            <a:avLst>
              <a:gd name="adj" fmla="val 8421"/>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11" name="Text 9"/>
          <p:cNvSpPr/>
          <p:nvPr/>
        </p:nvSpPr>
        <p:spPr>
          <a:xfrm>
            <a:off x="548640" y="3063240"/>
            <a:ext cx="502920" cy="777240"/>
          </a:xfrm>
          <a:prstGeom prst="rect">
            <a:avLst/>
          </a:prstGeom>
          <a:noFill/>
          <a:ln/>
        </p:spPr>
        <p:txBody>
          <a:bodyPr wrap="square" lIns="0" tIns="0" rIns="0" bIns="0" rtlCol="0" anchor="ctr"/>
          <a:lstStyle/>
          <a:p>
            <a:pPr marL="0" indent="0" algn="ctr">
              <a:buNone/>
            </a:pPr>
            <a:r>
              <a:rPr lang="en-US" sz="1600" b="1" dirty="0">
                <a:solidFill>
                  <a:srgbClr val="0D9488"/>
                </a:solidFill>
                <a:latin typeface="Cambria" pitchFamily="34" charset="0"/>
                <a:ea typeface="Cambria" pitchFamily="34" charset="-122"/>
                <a:cs typeface="Cambria" pitchFamily="34" charset="-120"/>
              </a:rPr>
              <a:t>E3</a:t>
            </a:r>
            <a:endParaRPr lang="en-US" sz="1600" dirty="0"/>
          </a:p>
        </p:txBody>
      </p:sp>
      <p:sp>
        <p:nvSpPr>
          <p:cNvPr id="12" name="Text 10"/>
          <p:cNvSpPr/>
          <p:nvPr/>
        </p:nvSpPr>
        <p:spPr>
          <a:xfrm>
            <a:off x="1097280" y="3090672"/>
            <a:ext cx="3291840" cy="731520"/>
          </a:xfrm>
          <a:prstGeom prst="rect">
            <a:avLst/>
          </a:prstGeom>
          <a:noFill/>
          <a:ln/>
        </p:spPr>
        <p:txBody>
          <a:bodyPr wrap="square" rtlCol="0" anchor="ctr"/>
          <a:lstStyle/>
          <a:p>
            <a:pPr marL="0" indent="0">
              <a:buNone/>
            </a:pPr>
            <a:r>
              <a:rPr lang="en-US" sz="1200">
                <a:solidFill>
                  <a:srgbClr val="1A1A2E"/>
                </a:solidFill>
                <a:latin typeface="Calibri" pitchFamily="34" charset="0"/>
                <a:ea typeface="Calibri" pitchFamily="34" charset="-122"/>
                <a:cs typeface="Calibri" pitchFamily="34" charset="-120"/>
              </a:rPr>
              <a:t>Primer 20%: </a:t>
            </a:r>
            <a:r>
              <a:rPr lang="en-US" sz="1200" b="1" dirty="0">
                <a:solidFill>
                  <a:srgbClr val="1A1A2E"/>
                </a:solidFill>
                <a:latin typeface="Calibri" pitchFamily="34" charset="0"/>
                <a:ea typeface="Calibri" pitchFamily="34" charset="-122"/>
                <a:cs typeface="Calibri" pitchFamily="34" charset="-120"/>
              </a:rPr>
              <a:t>2 puntos</a:t>
            </a:r>
            <a:r>
              <a:rPr lang="en-US" sz="1200" dirty="0">
                <a:solidFill>
                  <a:srgbClr val="1A1A2E"/>
                </a:solidFill>
                <a:latin typeface="Calibri" pitchFamily="34" charset="0"/>
                <a:ea typeface="Calibri" pitchFamily="34" charset="-122"/>
                <a:cs typeface="Calibri" pitchFamily="34" charset="-120"/>
              </a:rPr>
              <a:t>; resto: </a:t>
            </a:r>
            <a:r>
              <a:rPr lang="en-US" sz="1200" b="1" dirty="0">
                <a:solidFill>
                  <a:srgbClr val="1A1A2E"/>
                </a:solidFill>
                <a:latin typeface="Calibri" pitchFamily="34" charset="0"/>
                <a:ea typeface="Calibri" pitchFamily="34" charset="-122"/>
                <a:cs typeface="Calibri" pitchFamily="34" charset="-120"/>
              </a:rPr>
              <a:t>1 punto</a:t>
            </a:r>
            <a:r>
              <a:rPr lang="en-US" sz="1200" dirty="0">
                <a:solidFill>
                  <a:srgbClr val="1A1A2E"/>
                </a:solidFill>
                <a:latin typeface="Calibri" pitchFamily="34" charset="0"/>
                <a:ea typeface="Calibri" pitchFamily="34" charset="-122"/>
                <a:cs typeface="Calibri" pitchFamily="34" charset="-120"/>
              </a:rPr>
              <a:t>.</a:t>
            </a:r>
            <a:endParaRPr lang="en-US" sz="1200" dirty="0"/>
          </a:p>
        </p:txBody>
      </p:sp>
      <p:sp>
        <p:nvSpPr>
          <p:cNvPr id="13" name="Shape 11"/>
          <p:cNvSpPr/>
          <p:nvPr/>
        </p:nvSpPr>
        <p:spPr>
          <a:xfrm>
            <a:off x="4709160" y="1002154"/>
            <a:ext cx="4069080" cy="868680"/>
          </a:xfrm>
          <a:prstGeom prst="roundRect">
            <a:avLst>
              <a:gd name="adj" fmla="val 8421"/>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14" name="Text 12"/>
          <p:cNvSpPr/>
          <p:nvPr/>
        </p:nvSpPr>
        <p:spPr>
          <a:xfrm>
            <a:off x="4800600" y="1047874"/>
            <a:ext cx="502920" cy="777240"/>
          </a:xfrm>
          <a:prstGeom prst="rect">
            <a:avLst/>
          </a:prstGeom>
          <a:noFill/>
          <a:ln/>
        </p:spPr>
        <p:txBody>
          <a:bodyPr wrap="square" lIns="0" tIns="0" rIns="0" bIns="0" rtlCol="0" anchor="ctr"/>
          <a:lstStyle/>
          <a:p>
            <a:pPr marL="0" indent="0" algn="ctr">
              <a:buNone/>
            </a:pPr>
            <a:r>
              <a:rPr lang="en-US" sz="1600" b="1" dirty="0">
                <a:solidFill>
                  <a:srgbClr val="0D9488"/>
                </a:solidFill>
                <a:latin typeface="Cambria" pitchFamily="34" charset="0"/>
                <a:ea typeface="Cambria" pitchFamily="34" charset="-122"/>
                <a:cs typeface="Cambria" pitchFamily="34" charset="-120"/>
              </a:rPr>
              <a:t>E4</a:t>
            </a:r>
            <a:endParaRPr lang="en-US" sz="1600" dirty="0"/>
          </a:p>
        </p:txBody>
      </p:sp>
      <p:sp>
        <p:nvSpPr>
          <p:cNvPr id="15" name="Text 13"/>
          <p:cNvSpPr/>
          <p:nvPr/>
        </p:nvSpPr>
        <p:spPr>
          <a:xfrm>
            <a:off x="5349240" y="1075306"/>
            <a:ext cx="3291840" cy="73152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Siempre recombinación de </a:t>
            </a:r>
            <a:r>
              <a:rPr lang="en-US" sz="1200" b="1" dirty="0">
                <a:solidFill>
                  <a:srgbClr val="1A1A2E"/>
                </a:solidFill>
                <a:latin typeface="Calibri" pitchFamily="34" charset="0"/>
                <a:ea typeface="Calibri" pitchFamily="34" charset="-122"/>
                <a:cs typeface="Calibri" pitchFamily="34" charset="-120"/>
              </a:rPr>
              <a:t>3 puntos</a:t>
            </a:r>
            <a:r>
              <a:rPr lang="en-US" sz="1200" dirty="0">
                <a:solidFill>
                  <a:srgbClr val="1A1A2E"/>
                </a:solidFill>
                <a:latin typeface="Calibri" pitchFamily="34" charset="0"/>
                <a:ea typeface="Calibri" pitchFamily="34" charset="-122"/>
                <a:cs typeface="Calibri" pitchFamily="34" charset="-120"/>
              </a:rPr>
              <a:t>.</a:t>
            </a:r>
            <a:endParaRPr lang="en-US" sz="1200" dirty="0"/>
          </a:p>
        </p:txBody>
      </p:sp>
      <p:sp>
        <p:nvSpPr>
          <p:cNvPr id="16" name="Shape 14"/>
          <p:cNvSpPr/>
          <p:nvPr/>
        </p:nvSpPr>
        <p:spPr>
          <a:xfrm>
            <a:off x="4709160" y="2011680"/>
            <a:ext cx="4069080" cy="868680"/>
          </a:xfrm>
          <a:prstGeom prst="roundRect">
            <a:avLst>
              <a:gd name="adj" fmla="val 8421"/>
            </a:avLst>
          </a:prstGeom>
          <a:solidFill>
            <a:srgbClr val="FFFFFF"/>
          </a:solidFill>
          <a:ln w="25400">
            <a:noFill/>
            <a:prstDash val="solid"/>
          </a:ln>
          <a:effectLst>
            <a:outerShdw blurRad="101600" dist="38100" dir="2700000" algn="bl" rotWithShape="0">
              <a:srgbClr val="000000">
                <a:alpha val="12000"/>
              </a:srgbClr>
            </a:outerShdw>
          </a:effectLst>
        </p:spPr>
        <p:txBody>
          <a:bodyPr/>
          <a:lstStyle/>
          <a:p>
            <a:endParaRPr lang="es-419"/>
          </a:p>
        </p:txBody>
      </p:sp>
      <p:sp>
        <p:nvSpPr>
          <p:cNvPr id="17" name="Text 15"/>
          <p:cNvSpPr/>
          <p:nvPr/>
        </p:nvSpPr>
        <p:spPr>
          <a:xfrm>
            <a:off x="4800600" y="2057400"/>
            <a:ext cx="502920" cy="777240"/>
          </a:xfrm>
          <a:prstGeom prst="rect">
            <a:avLst/>
          </a:prstGeom>
          <a:noFill/>
          <a:ln/>
        </p:spPr>
        <p:txBody>
          <a:bodyPr wrap="square" lIns="0" tIns="0" rIns="0" bIns="0" rtlCol="0" anchor="ctr"/>
          <a:lstStyle/>
          <a:p>
            <a:pPr marL="0" indent="0" algn="ctr">
              <a:buNone/>
            </a:pPr>
            <a:r>
              <a:rPr lang="en-US" sz="1600" b="1" dirty="0">
                <a:solidFill>
                  <a:srgbClr val="0D9488"/>
                </a:solidFill>
                <a:latin typeface="Cambria" pitchFamily="34" charset="0"/>
                <a:ea typeface="Cambria" pitchFamily="34" charset="-122"/>
                <a:cs typeface="Cambria" pitchFamily="34" charset="-120"/>
              </a:rPr>
              <a:t>E5</a:t>
            </a:r>
            <a:endParaRPr lang="en-US" sz="1600" dirty="0"/>
          </a:p>
        </p:txBody>
      </p:sp>
      <p:sp>
        <p:nvSpPr>
          <p:cNvPr id="18" name="Text 16"/>
          <p:cNvSpPr/>
          <p:nvPr/>
        </p:nvSpPr>
        <p:spPr>
          <a:xfrm>
            <a:off x="5349240" y="2084832"/>
            <a:ext cx="3291840" cy="73152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Siempre recombinación de </a:t>
            </a:r>
            <a:r>
              <a:rPr lang="en-US" sz="1200" b="1" dirty="0">
                <a:solidFill>
                  <a:srgbClr val="1A1A2E"/>
                </a:solidFill>
                <a:latin typeface="Calibri" pitchFamily="34" charset="0"/>
                <a:ea typeface="Calibri" pitchFamily="34" charset="-122"/>
                <a:cs typeface="Calibri" pitchFamily="34" charset="-120"/>
              </a:rPr>
              <a:t>4 puntos</a:t>
            </a:r>
            <a:r>
              <a:rPr lang="en-US" sz="1200" dirty="0">
                <a:solidFill>
                  <a:srgbClr val="1A1A2E"/>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4709160" y="3017520"/>
            <a:ext cx="4069080" cy="868680"/>
          </a:xfrm>
          <a:prstGeom prst="roundRect">
            <a:avLst>
              <a:gd name="adj" fmla="val 8421"/>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20" name="Text 18"/>
          <p:cNvSpPr/>
          <p:nvPr/>
        </p:nvSpPr>
        <p:spPr>
          <a:xfrm>
            <a:off x="4800600" y="3063240"/>
            <a:ext cx="502920" cy="777240"/>
          </a:xfrm>
          <a:prstGeom prst="rect">
            <a:avLst/>
          </a:prstGeom>
          <a:noFill/>
          <a:ln/>
        </p:spPr>
        <p:txBody>
          <a:bodyPr wrap="square" lIns="0" tIns="0" rIns="0" bIns="0" rtlCol="0" anchor="ctr"/>
          <a:lstStyle/>
          <a:p>
            <a:pPr marL="0" indent="0" algn="ctr">
              <a:buNone/>
            </a:pPr>
            <a:r>
              <a:rPr lang="en-US" sz="1600" b="1" dirty="0">
                <a:solidFill>
                  <a:srgbClr val="0D9488"/>
                </a:solidFill>
                <a:latin typeface="Cambria" pitchFamily="34" charset="0"/>
                <a:ea typeface="Cambria" pitchFamily="34" charset="-122"/>
                <a:cs typeface="Cambria" pitchFamily="34" charset="-120"/>
              </a:rPr>
              <a:t>E6</a:t>
            </a:r>
            <a:endParaRPr lang="en-US" sz="1600" dirty="0"/>
          </a:p>
        </p:txBody>
      </p:sp>
      <p:sp>
        <p:nvSpPr>
          <p:cNvPr id="21" name="Text 19"/>
          <p:cNvSpPr/>
          <p:nvPr/>
        </p:nvSpPr>
        <p:spPr>
          <a:xfrm>
            <a:off x="5349240" y="3090672"/>
            <a:ext cx="3291840" cy="73152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Gens 1-200: </a:t>
            </a:r>
            <a:r>
              <a:rPr lang="en-US" sz="1200" b="1" dirty="0">
                <a:solidFill>
                  <a:srgbClr val="1A1A2E"/>
                </a:solidFill>
                <a:latin typeface="Calibri" pitchFamily="34" charset="0"/>
                <a:ea typeface="Calibri" pitchFamily="34" charset="-122"/>
                <a:cs typeface="Calibri" pitchFamily="34" charset="-120"/>
              </a:rPr>
              <a:t>doble</a:t>
            </a:r>
            <a:r>
              <a:rPr lang="en-US" sz="1200" dirty="0">
                <a:solidFill>
                  <a:srgbClr val="1A1A2E"/>
                </a:solidFill>
                <a:latin typeface="Calibri" pitchFamily="34" charset="0"/>
                <a:ea typeface="Calibri" pitchFamily="34" charset="-122"/>
                <a:cs typeface="Calibri" pitchFamily="34" charset="-120"/>
              </a:rPr>
              <a:t>; 201-500: </a:t>
            </a:r>
            <a:r>
              <a:rPr lang="en-US" sz="1200" b="1" dirty="0">
                <a:solidFill>
                  <a:srgbClr val="1A1A2E"/>
                </a:solidFill>
                <a:latin typeface="Calibri" pitchFamily="34" charset="0"/>
                <a:ea typeface="Calibri" pitchFamily="34" charset="-122"/>
                <a:cs typeface="Calibri" pitchFamily="34" charset="-120"/>
              </a:rPr>
              <a:t>triple</a:t>
            </a:r>
            <a:r>
              <a:rPr lang="en-US" sz="1200" dirty="0">
                <a:solidFill>
                  <a:srgbClr val="1A1A2E"/>
                </a:solidFill>
                <a:latin typeface="Calibri" pitchFamily="34" charset="0"/>
                <a:ea typeface="Calibri" pitchFamily="34" charset="-122"/>
                <a:cs typeface="Calibri" pitchFamily="34" charset="-120"/>
              </a:rPr>
              <a:t>; 501+: </a:t>
            </a:r>
            <a:r>
              <a:rPr lang="en-US" sz="1200" b="1" dirty="0">
                <a:solidFill>
                  <a:srgbClr val="1A1A2E"/>
                </a:solidFill>
                <a:latin typeface="Calibri" pitchFamily="34" charset="0"/>
                <a:ea typeface="Calibri" pitchFamily="34" charset="-122"/>
                <a:cs typeface="Calibri" pitchFamily="34" charset="-120"/>
              </a:rPr>
              <a:t>simple</a:t>
            </a:r>
            <a:r>
              <a:rPr lang="en-US" sz="1200" dirty="0">
                <a:solidFill>
                  <a:srgbClr val="1A1A2E"/>
                </a:solidFill>
                <a:latin typeface="Calibri" pitchFamily="34" charset="0"/>
                <a:ea typeface="Calibri" pitchFamily="34" charset="-122"/>
                <a:cs typeface="Calibri" pitchFamily="34" charset="-120"/>
              </a:rPr>
              <a:t>.</a:t>
            </a:r>
            <a:endParaRPr lang="en-US" sz="1200" dirty="0"/>
          </a:p>
        </p:txBody>
      </p:sp>
      <p:sp>
        <p:nvSpPr>
          <p:cNvPr id="22" name="Shape 20"/>
          <p:cNvSpPr/>
          <p:nvPr/>
        </p:nvSpPr>
        <p:spPr>
          <a:xfrm>
            <a:off x="2591291" y="4075565"/>
            <a:ext cx="4069080" cy="868680"/>
          </a:xfrm>
          <a:prstGeom prst="roundRect">
            <a:avLst>
              <a:gd name="adj" fmla="val 8421"/>
            </a:avLst>
          </a:prstGeom>
          <a:solidFill>
            <a:srgbClr val="FFF7ED"/>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23" name="Text 21"/>
          <p:cNvSpPr/>
          <p:nvPr/>
        </p:nvSpPr>
        <p:spPr>
          <a:xfrm>
            <a:off x="2682731" y="4121285"/>
            <a:ext cx="502920" cy="777240"/>
          </a:xfrm>
          <a:prstGeom prst="rect">
            <a:avLst/>
          </a:prstGeom>
          <a:noFill/>
          <a:ln/>
        </p:spPr>
        <p:txBody>
          <a:bodyPr wrap="square" lIns="0" tIns="0" rIns="0" bIns="0" rtlCol="0" anchor="ctr"/>
          <a:lstStyle/>
          <a:p>
            <a:pPr marL="0" indent="0" algn="ctr">
              <a:buNone/>
            </a:pPr>
            <a:r>
              <a:rPr lang="en-US" sz="1600" b="1" dirty="0">
                <a:solidFill>
                  <a:srgbClr val="0D9488"/>
                </a:solidFill>
                <a:latin typeface="Cambria" pitchFamily="34" charset="0"/>
                <a:ea typeface="Cambria" pitchFamily="34" charset="-122"/>
                <a:cs typeface="Cambria" pitchFamily="34" charset="-120"/>
              </a:rPr>
              <a:t>E7</a:t>
            </a:r>
            <a:endParaRPr lang="en-US" sz="1600" dirty="0"/>
          </a:p>
        </p:txBody>
      </p:sp>
      <p:sp>
        <p:nvSpPr>
          <p:cNvPr id="24" name="Text 22"/>
          <p:cNvSpPr/>
          <p:nvPr/>
        </p:nvSpPr>
        <p:spPr>
          <a:xfrm>
            <a:off x="3231371" y="4148717"/>
            <a:ext cx="3291840" cy="73152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Solución </a:t>
            </a:r>
            <a:r>
              <a:rPr lang="en-US" sz="1200" b="1" dirty="0">
                <a:solidFill>
                  <a:srgbClr val="1A1A2E"/>
                </a:solidFill>
                <a:latin typeface="Calibri" pitchFamily="34" charset="0"/>
                <a:ea typeface="Calibri" pitchFamily="34" charset="-122"/>
                <a:cs typeface="Calibri" pitchFamily="34" charset="-120"/>
              </a:rPr>
              <a:t>aleatoria</a:t>
            </a:r>
            <a:r>
              <a:rPr lang="en-US" sz="1200" dirty="0">
                <a:solidFill>
                  <a:srgbClr val="1A1A2E"/>
                </a:solidFill>
                <a:latin typeface="Calibri" pitchFamily="34" charset="0"/>
                <a:ea typeface="Calibri" pitchFamily="34" charset="-122"/>
                <a:cs typeface="Calibri" pitchFamily="34" charset="-120"/>
              </a:rPr>
              <a:t> (sin recombinación ni mutación; solo elitismo). </a:t>
            </a:r>
            <a:r>
              <a:rPr lang="en-US" sz="1200">
                <a:solidFill>
                  <a:srgbClr val="1A1A2E"/>
                </a:solidFill>
                <a:latin typeface="Calibri" pitchFamily="34" charset="0"/>
                <a:ea typeface="Calibri" pitchFamily="34" charset="-122"/>
                <a:cs typeface="Calibri" pitchFamily="34" charset="-120"/>
              </a:rPr>
              <a:t>Referencia base.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7">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Experimento 1</a:t>
            </a:r>
            <a:r>
              <a:rPr lang="en-US" sz="3200" b="1">
                <a:solidFill>
                  <a:srgbClr val="FFFFFF"/>
                </a:solidFill>
                <a:latin typeface="Cambria" pitchFamily="34" charset="0"/>
                <a:ea typeface="Cambria" pitchFamily="34" charset="-122"/>
                <a:cs typeface="Cambria" pitchFamily="34" charset="-120"/>
              </a:rPr>
              <a:t>: </a:t>
            </a:r>
          </a:p>
          <a:p>
            <a:pPr marL="0" indent="0" algn="ctr">
              <a:buNone/>
            </a:pPr>
            <a:r>
              <a:rPr lang="en-US" sz="3200" b="1">
                <a:solidFill>
                  <a:srgbClr val="FFFFFF"/>
                </a:solidFill>
                <a:latin typeface="Cambria" pitchFamily="34" charset="0"/>
                <a:ea typeface="Cambria" pitchFamily="34" charset="-122"/>
                <a:cs typeface="Cambria" pitchFamily="34" charset="-120"/>
              </a:rPr>
              <a:t>Evolución </a:t>
            </a:r>
            <a:r>
              <a:rPr lang="en-US" sz="3200" b="1" dirty="0">
                <a:solidFill>
                  <a:srgbClr val="FFFFFF"/>
                </a:solidFill>
                <a:latin typeface="Cambria" pitchFamily="34" charset="0"/>
                <a:ea typeface="Cambria" pitchFamily="34" charset="-122"/>
                <a:cs typeface="Cambria" pitchFamily="34" charset="-120"/>
              </a:rPr>
              <a:t>de Tonos Relativos</a:t>
            </a:r>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Explorando el Número de Generaciones (E1)</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457200" y="960120"/>
            <a:ext cx="8229600" cy="59436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Se ejecutó la Estrategia 1 (recombinación simple) con 30 corridas de 100 generaciones y luego 1000, para determinar un número razonable de generaciones.</a:t>
            </a:r>
            <a:endParaRPr lang="en-US" sz="1400" dirty="0"/>
          </a:p>
        </p:txBody>
      </p:sp>
      <p:sp>
        <p:nvSpPr>
          <p:cNvPr id="5" name="Shape 3"/>
          <p:cNvSpPr/>
          <p:nvPr/>
        </p:nvSpPr>
        <p:spPr>
          <a:xfrm>
            <a:off x="457200" y="1645920"/>
            <a:ext cx="3931920" cy="2377440"/>
          </a:xfrm>
          <a:prstGeom prst="roundRect">
            <a:avLst>
              <a:gd name="adj" fmla="val 3077"/>
            </a:avLst>
          </a:prstGeom>
          <a:solidFill>
            <a:srgbClr val="EFF6FF"/>
          </a:solidFill>
          <a:ln w="19050">
            <a:solidFill>
              <a:srgbClr val="0D9488"/>
            </a:solidFill>
            <a:prstDash val="dash"/>
          </a:ln>
        </p:spPr>
        <p:txBody>
          <a:bodyPr/>
          <a:lstStyle/>
          <a:p>
            <a:endParaRPr lang="es-419"/>
          </a:p>
        </p:txBody>
      </p:sp>
      <p:sp>
        <p:nvSpPr>
          <p:cNvPr id="6" name="Text 4"/>
          <p:cNvSpPr/>
          <p:nvPr/>
        </p:nvSpPr>
        <p:spPr>
          <a:xfrm>
            <a:off x="457200" y="2359152"/>
            <a:ext cx="3931920" cy="950976"/>
          </a:xfrm>
          <a:prstGeom prst="rect">
            <a:avLst/>
          </a:prstGeom>
          <a:noFill/>
          <a:ln/>
        </p:spPr>
        <p:txBody>
          <a:bodyPr wrap="square" rtlCol="0" anchor="ctr"/>
          <a:lstStyle/>
          <a:p>
            <a:pPr marL="0" indent="0" algn="ctr">
              <a:buNone/>
            </a:pPr>
            <a:r>
              <a:rPr lang="en-US" sz="1300" i="1">
                <a:solidFill>
                  <a:srgbClr val="0D9488"/>
                </a:solidFill>
                <a:latin typeface="Calibri" pitchFamily="34" charset="0"/>
                <a:ea typeface="Calibri" pitchFamily="34" charset="-122"/>
                <a:cs typeface="Calibri" pitchFamily="34" charset="-120"/>
              </a:rPr>
              <a:t>[ imagen ]</a:t>
            </a:r>
            <a:endParaRPr lang="en-US" sz="1300" dirty="0"/>
          </a:p>
        </p:txBody>
      </p:sp>
      <p:sp>
        <p:nvSpPr>
          <p:cNvPr id="7" name="Text 5"/>
          <p:cNvSpPr/>
          <p:nvPr/>
        </p:nvSpPr>
        <p:spPr>
          <a:xfrm>
            <a:off x="457200" y="4069080"/>
            <a:ext cx="39319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1 – Boxplot fitness (100 generaciones, E1)</a:t>
            </a:r>
            <a:endParaRPr lang="en-US" sz="1000" dirty="0"/>
          </a:p>
        </p:txBody>
      </p:sp>
      <p:sp>
        <p:nvSpPr>
          <p:cNvPr id="8" name="Shape 6"/>
          <p:cNvSpPr/>
          <p:nvPr/>
        </p:nvSpPr>
        <p:spPr>
          <a:xfrm>
            <a:off x="4754880" y="1645920"/>
            <a:ext cx="3931920" cy="2377440"/>
          </a:xfrm>
          <a:prstGeom prst="roundRect">
            <a:avLst>
              <a:gd name="adj" fmla="val 3077"/>
            </a:avLst>
          </a:prstGeom>
          <a:solidFill>
            <a:srgbClr val="EFF6FF"/>
          </a:solidFill>
          <a:ln w="19050">
            <a:solidFill>
              <a:srgbClr val="0D9488"/>
            </a:solidFill>
            <a:prstDash val="dash"/>
          </a:ln>
        </p:spPr>
        <p:txBody>
          <a:bodyPr/>
          <a:lstStyle/>
          <a:p>
            <a:endParaRPr lang="es-419"/>
          </a:p>
        </p:txBody>
      </p:sp>
      <p:sp>
        <p:nvSpPr>
          <p:cNvPr id="9" name="Text 7"/>
          <p:cNvSpPr/>
          <p:nvPr/>
        </p:nvSpPr>
        <p:spPr>
          <a:xfrm>
            <a:off x="4754880" y="2359152"/>
            <a:ext cx="3931920" cy="950976"/>
          </a:xfrm>
          <a:prstGeom prst="rect">
            <a:avLst/>
          </a:prstGeom>
          <a:noFill/>
          <a:ln/>
        </p:spPr>
        <p:txBody>
          <a:bodyPr wrap="square" rtlCol="0" anchor="ctr"/>
          <a:lstStyle/>
          <a:p>
            <a:pPr marL="0" indent="0" algn="ctr">
              <a:buNone/>
            </a:pPr>
            <a:r>
              <a:rPr lang="en-US" sz="1300" i="1" dirty="0">
                <a:solidFill>
                  <a:srgbClr val="0D9488"/>
                </a:solidFill>
                <a:latin typeface="Calibri" pitchFamily="34" charset="0"/>
                <a:ea typeface="Calibri" pitchFamily="34" charset="-122"/>
                <a:cs typeface="Calibri" pitchFamily="34" charset="-120"/>
              </a:rPr>
              <a:t>[ imagen ]</a:t>
            </a:r>
            <a:endParaRPr lang="en-US" sz="1300" dirty="0"/>
          </a:p>
        </p:txBody>
      </p:sp>
      <p:sp>
        <p:nvSpPr>
          <p:cNvPr id="10" name="Text 8"/>
          <p:cNvSpPr/>
          <p:nvPr/>
        </p:nvSpPr>
        <p:spPr>
          <a:xfrm>
            <a:off x="4754880" y="4069080"/>
            <a:ext cx="39319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2 – Boxplot fitness (1000 generaciones, E1)</a:t>
            </a:r>
            <a:endParaRPr lang="en-US" sz="1000" dirty="0"/>
          </a:p>
        </p:txBody>
      </p:sp>
      <p:sp>
        <p:nvSpPr>
          <p:cNvPr id="11" name="Text 9"/>
          <p:cNvSpPr/>
          <p:nvPr/>
        </p:nvSpPr>
        <p:spPr>
          <a:xfrm>
            <a:off x="457200" y="4321884"/>
            <a:ext cx="8229600" cy="594360"/>
          </a:xfrm>
          <a:prstGeom prst="rect">
            <a:avLst/>
          </a:prstGeom>
          <a:noFill/>
          <a:ln/>
        </p:spPr>
        <p:txBody>
          <a:bodyPr wrap="square" rtlCol="0" anchor="ctr"/>
          <a:lstStyle/>
          <a:p>
            <a:pPr marL="0" indent="0">
              <a:buNone/>
            </a:pPr>
            <a:r>
              <a:rPr lang="en-US" sz="1300" b="1" i="1" dirty="0">
                <a:solidFill>
                  <a:srgbClr val="64748B"/>
                </a:solidFill>
                <a:latin typeface="Calibri" pitchFamily="34" charset="0"/>
                <a:ea typeface="Calibri" pitchFamily="34" charset="-122"/>
                <a:cs typeface="Calibri" pitchFamily="34" charset="-120"/>
              </a:rPr>
              <a:t>Conclusión</a:t>
            </a:r>
            <a:r>
              <a:rPr lang="en-US" sz="1300" i="1" dirty="0">
                <a:solidFill>
                  <a:srgbClr val="64748B"/>
                </a:solidFill>
                <a:latin typeface="Calibri" pitchFamily="34" charset="0"/>
                <a:ea typeface="Calibri" pitchFamily="34" charset="-122"/>
                <a:cs typeface="Calibri" pitchFamily="34" charset="-120"/>
              </a:rPr>
              <a:t>: el fitness aumenta significativamente hasta la </a:t>
            </a:r>
            <a:r>
              <a:rPr lang="en-US" sz="1300" i="1">
                <a:solidFill>
                  <a:srgbClr val="64748B"/>
                </a:solidFill>
                <a:latin typeface="Calibri" pitchFamily="34" charset="0"/>
                <a:ea typeface="Calibri" pitchFamily="34" charset="-122"/>
                <a:cs typeface="Calibri" pitchFamily="34" charset="-120"/>
              </a:rPr>
              <a:t>generación ≈ 300 </a:t>
            </a:r>
            <a:r>
              <a:rPr lang="en-US" sz="1300" i="1" dirty="0">
                <a:solidFill>
                  <a:srgbClr val="64748B"/>
                </a:solidFill>
                <a:latin typeface="Calibri" pitchFamily="34" charset="0"/>
                <a:ea typeface="Calibri" pitchFamily="34" charset="-122"/>
                <a:cs typeface="Calibri" pitchFamily="34" charset="-120"/>
              </a:rPr>
              <a:t>y luego crece muy </a:t>
            </a:r>
            <a:r>
              <a:rPr lang="en-US" sz="1300" i="1">
                <a:solidFill>
                  <a:srgbClr val="64748B"/>
                </a:solidFill>
                <a:latin typeface="Calibri" pitchFamily="34" charset="0"/>
                <a:ea typeface="Calibri" pitchFamily="34" charset="-122"/>
                <a:cs typeface="Calibri" pitchFamily="34" charset="-120"/>
              </a:rPr>
              <a:t>lentamente </a:t>
            </a:r>
          </a:p>
          <a:p>
            <a:pPr marL="0" indent="0">
              <a:buNone/>
            </a:pPr>
            <a:r>
              <a:rPr lang="en-US" sz="1300" i="1">
                <a:solidFill>
                  <a:srgbClr val="64748B"/>
                </a:solidFill>
                <a:latin typeface="Calibri" pitchFamily="34" charset="0"/>
                <a:ea typeface="Calibri" pitchFamily="34" charset="-122"/>
                <a:cs typeface="Calibri" pitchFamily="34" charset="-120"/>
              </a:rPr>
              <a:t>→ </a:t>
            </a:r>
            <a:r>
              <a:rPr lang="en-US" sz="1300" i="1" dirty="0">
                <a:solidFill>
                  <a:srgbClr val="64748B"/>
                </a:solidFill>
                <a:latin typeface="Calibri" pitchFamily="34" charset="0"/>
                <a:ea typeface="Calibri" pitchFamily="34" charset="-122"/>
                <a:cs typeface="Calibri" pitchFamily="34" charset="-120"/>
              </a:rPr>
              <a:t>1000 generaciones es un límite razonable.</a:t>
            </a:r>
            <a:endParaRPr lang="en-US" sz="1300" dirty="0"/>
          </a:p>
        </p:txBody>
      </p:sp>
      <p:pic>
        <p:nvPicPr>
          <p:cNvPr id="13" name="Picture 12">
            <a:extLst>
              <a:ext uri="{FF2B5EF4-FFF2-40B4-BE49-F238E27FC236}">
                <a16:creationId xmlns:a16="http://schemas.microsoft.com/office/drawing/2014/main" id="{F2EEE555-1925-89E2-4643-316006920E8D}"/>
              </a:ext>
            </a:extLst>
          </p:cNvPr>
          <p:cNvPicPr>
            <a:picLocks noChangeAspect="1"/>
          </p:cNvPicPr>
          <p:nvPr/>
        </p:nvPicPr>
        <p:blipFill>
          <a:blip r:embed="rId3"/>
          <a:stretch>
            <a:fillRect/>
          </a:stretch>
        </p:blipFill>
        <p:spPr>
          <a:xfrm>
            <a:off x="498309" y="1855976"/>
            <a:ext cx="3849701" cy="2003048"/>
          </a:xfrm>
          <a:prstGeom prst="rect">
            <a:avLst/>
          </a:prstGeom>
        </p:spPr>
      </p:pic>
      <p:pic>
        <p:nvPicPr>
          <p:cNvPr id="15" name="Picture 14">
            <a:extLst>
              <a:ext uri="{FF2B5EF4-FFF2-40B4-BE49-F238E27FC236}">
                <a16:creationId xmlns:a16="http://schemas.microsoft.com/office/drawing/2014/main" id="{81B74354-77B0-C048-914E-A22D9E413EDD}"/>
              </a:ext>
            </a:extLst>
          </p:cNvPr>
          <p:cNvPicPr>
            <a:picLocks noChangeAspect="1"/>
          </p:cNvPicPr>
          <p:nvPr/>
        </p:nvPicPr>
        <p:blipFill>
          <a:blip r:embed="rId4"/>
          <a:stretch>
            <a:fillRect/>
          </a:stretch>
        </p:blipFill>
        <p:spPr>
          <a:xfrm>
            <a:off x="4867270" y="1855976"/>
            <a:ext cx="3778421" cy="19659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Comparación de E1–E3 (1000 generaciones, 50 tonos)</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5" name="Text 3"/>
          <p:cNvSpPr/>
          <p:nvPr/>
        </p:nvSpPr>
        <p:spPr>
          <a:xfrm>
            <a:off x="457200" y="1673352"/>
            <a:ext cx="8229600" cy="950976"/>
          </a:xfrm>
          <a:prstGeom prst="rect">
            <a:avLst/>
          </a:prstGeom>
          <a:noFill/>
          <a:ln/>
        </p:spPr>
        <p:txBody>
          <a:bodyPr wrap="square" rtlCol="0" anchor="ctr"/>
          <a:lstStyle/>
          <a:p>
            <a:pPr marL="0" indent="0" algn="ctr">
              <a:buNone/>
            </a:pPr>
            <a:r>
              <a:rPr lang="en-US" sz="1300" i="1" dirty="0">
                <a:solidFill>
                  <a:srgbClr val="0D9488"/>
                </a:solidFill>
                <a:latin typeface="Calibri" pitchFamily="34" charset="0"/>
                <a:ea typeface="Calibri" pitchFamily="34" charset="-122"/>
                <a:cs typeface="Calibri" pitchFamily="34" charset="-120"/>
              </a:rPr>
              <a:t>[ imagen ]</a:t>
            </a:r>
            <a:endParaRPr lang="en-US" sz="1300" dirty="0"/>
          </a:p>
        </p:txBody>
      </p:sp>
      <p:sp>
        <p:nvSpPr>
          <p:cNvPr id="6" name="Text 4"/>
          <p:cNvSpPr/>
          <p:nvPr/>
        </p:nvSpPr>
        <p:spPr>
          <a:xfrm>
            <a:off x="457200" y="4777740"/>
            <a:ext cx="822960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3 – Líneas de tendencia del fitness: E1, E2, E3 (1000 gens)</a:t>
            </a:r>
            <a:endParaRPr lang="en-US" sz="1000" dirty="0"/>
          </a:p>
        </p:txBody>
      </p:sp>
      <p:pic>
        <p:nvPicPr>
          <p:cNvPr id="14" name="Picture 13">
            <a:extLst>
              <a:ext uri="{FF2B5EF4-FFF2-40B4-BE49-F238E27FC236}">
                <a16:creationId xmlns:a16="http://schemas.microsoft.com/office/drawing/2014/main" id="{3198A0E0-FD9A-2C6B-CEA9-DEA37C03921E}"/>
              </a:ext>
            </a:extLst>
          </p:cNvPr>
          <p:cNvPicPr>
            <a:picLocks noChangeAspect="1"/>
          </p:cNvPicPr>
          <p:nvPr/>
        </p:nvPicPr>
        <p:blipFill>
          <a:blip r:embed="rId3"/>
          <a:stretch>
            <a:fillRect/>
          </a:stretch>
        </p:blipFill>
        <p:spPr>
          <a:xfrm>
            <a:off x="970122" y="960121"/>
            <a:ext cx="7200000" cy="3746250"/>
          </a:xfrm>
          <a:prstGeom prst="rect">
            <a:avLst/>
          </a:prstGeom>
          <a:ln w="19050">
            <a:solidFill>
              <a:schemeClr val="accent1"/>
            </a:solidFill>
            <a:prstDash val="lgDash"/>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6CF01185-CEE4-292C-6ABC-1421C1DC4A9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E59133D-5BD1-7891-75C5-D88BC2582394}"/>
              </a:ext>
            </a:extLst>
          </p:cNvPr>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Comparación de E1–E3 (1000 generaciones, 50 tonos)</a:t>
            </a:r>
            <a:endParaRPr lang="en-US" sz="2600" dirty="0"/>
          </a:p>
        </p:txBody>
      </p:sp>
      <p:sp>
        <p:nvSpPr>
          <p:cNvPr id="3" name="Shape 1">
            <a:extLst>
              <a:ext uri="{FF2B5EF4-FFF2-40B4-BE49-F238E27FC236}">
                <a16:creationId xmlns:a16="http://schemas.microsoft.com/office/drawing/2014/main" id="{724E8668-6D1B-D160-B87F-D75F4C7AE9DC}"/>
              </a:ext>
            </a:extLst>
          </p:cNvPr>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9" name="Text 7">
            <a:extLst>
              <a:ext uri="{FF2B5EF4-FFF2-40B4-BE49-F238E27FC236}">
                <a16:creationId xmlns:a16="http://schemas.microsoft.com/office/drawing/2014/main" id="{004BDEA9-201A-7D9D-2F82-5049F664DA5A}"/>
              </a:ext>
            </a:extLst>
          </p:cNvPr>
          <p:cNvSpPr/>
          <p:nvPr/>
        </p:nvSpPr>
        <p:spPr>
          <a:xfrm>
            <a:off x="2606039" y="4769945"/>
            <a:ext cx="39319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4 – Zoom final (gens 700–1000)</a:t>
            </a:r>
            <a:endParaRPr lang="en-US" sz="1000" dirty="0"/>
          </a:p>
        </p:txBody>
      </p:sp>
      <p:pic>
        <p:nvPicPr>
          <p:cNvPr id="15" name="Picture 14">
            <a:extLst>
              <a:ext uri="{FF2B5EF4-FFF2-40B4-BE49-F238E27FC236}">
                <a16:creationId xmlns:a16="http://schemas.microsoft.com/office/drawing/2014/main" id="{35509DB0-DC38-E1D0-F091-6DFCA2D5B7C3}"/>
              </a:ext>
            </a:extLst>
          </p:cNvPr>
          <p:cNvPicPr>
            <a:picLocks noChangeAspect="1"/>
          </p:cNvPicPr>
          <p:nvPr/>
        </p:nvPicPr>
        <p:blipFill>
          <a:blip r:embed="rId3"/>
          <a:stretch>
            <a:fillRect/>
          </a:stretch>
        </p:blipFill>
        <p:spPr>
          <a:xfrm>
            <a:off x="971999" y="963885"/>
            <a:ext cx="7200000" cy="3746250"/>
          </a:xfrm>
          <a:prstGeom prst="rect">
            <a:avLst/>
          </a:prstGeom>
          <a:ln w="19050">
            <a:solidFill>
              <a:schemeClr val="accent1"/>
            </a:solidFill>
            <a:prstDash val="lgDash"/>
          </a:ln>
        </p:spPr>
      </p:pic>
    </p:spTree>
    <p:extLst>
      <p:ext uri="{BB962C8B-B14F-4D97-AF65-F5344CB8AC3E}">
        <p14:creationId xmlns:p14="http://schemas.microsoft.com/office/powerpoint/2010/main" val="3362937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49FF5E57-7261-A001-1A9B-FDB583D8CE9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4F1E512-15FA-B7A7-EA12-2BD73037236C}"/>
              </a:ext>
            </a:extLst>
          </p:cNvPr>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Comparación de E1–E3 (1000 generaciones, 50 tonos)</a:t>
            </a:r>
            <a:endParaRPr lang="en-US" sz="2600" dirty="0"/>
          </a:p>
        </p:txBody>
      </p:sp>
      <p:sp>
        <p:nvSpPr>
          <p:cNvPr id="3" name="Shape 1">
            <a:extLst>
              <a:ext uri="{FF2B5EF4-FFF2-40B4-BE49-F238E27FC236}">
                <a16:creationId xmlns:a16="http://schemas.microsoft.com/office/drawing/2014/main" id="{FB612D69-C799-E8F6-BF8B-5005AA39C6C8}"/>
              </a:ext>
            </a:extLst>
          </p:cNvPr>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12" name="Text 10">
            <a:extLst>
              <a:ext uri="{FF2B5EF4-FFF2-40B4-BE49-F238E27FC236}">
                <a16:creationId xmlns:a16="http://schemas.microsoft.com/office/drawing/2014/main" id="{5688942D-AF24-2C92-AA22-1C2926BCF1CF}"/>
              </a:ext>
            </a:extLst>
          </p:cNvPr>
          <p:cNvSpPr/>
          <p:nvPr/>
        </p:nvSpPr>
        <p:spPr>
          <a:xfrm>
            <a:off x="2606040" y="4777740"/>
            <a:ext cx="39319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5 – Zoom inicial (gens 50–400)</a:t>
            </a:r>
            <a:endParaRPr lang="en-US" sz="1000" dirty="0"/>
          </a:p>
        </p:txBody>
      </p:sp>
      <p:pic>
        <p:nvPicPr>
          <p:cNvPr id="15" name="Picture 14">
            <a:extLst>
              <a:ext uri="{FF2B5EF4-FFF2-40B4-BE49-F238E27FC236}">
                <a16:creationId xmlns:a16="http://schemas.microsoft.com/office/drawing/2014/main" id="{9FDCC3F1-F1E2-C382-FFE3-60D23AF54203}"/>
              </a:ext>
            </a:extLst>
          </p:cNvPr>
          <p:cNvPicPr>
            <a:picLocks noChangeAspect="1"/>
          </p:cNvPicPr>
          <p:nvPr/>
        </p:nvPicPr>
        <p:blipFill>
          <a:blip r:embed="rId3"/>
          <a:stretch>
            <a:fillRect/>
          </a:stretch>
        </p:blipFill>
        <p:spPr>
          <a:xfrm>
            <a:off x="972000" y="967782"/>
            <a:ext cx="7200000" cy="3746251"/>
          </a:xfrm>
          <a:prstGeom prst="rect">
            <a:avLst/>
          </a:prstGeom>
          <a:ln w="19050">
            <a:solidFill>
              <a:schemeClr val="accent1"/>
            </a:solidFill>
            <a:prstDash val="lgDash"/>
          </a:ln>
        </p:spPr>
      </p:pic>
    </p:spTree>
    <p:extLst>
      <p:ext uri="{BB962C8B-B14F-4D97-AF65-F5344CB8AC3E}">
        <p14:creationId xmlns:p14="http://schemas.microsoft.com/office/powerpoint/2010/main" val="364111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Incorporación de </a:t>
            </a:r>
            <a:r>
              <a:rPr lang="en-US" sz="2600" b="1">
                <a:solidFill>
                  <a:srgbClr val="0F3460"/>
                </a:solidFill>
                <a:latin typeface="Cambria" pitchFamily="34" charset="0"/>
                <a:ea typeface="Cambria" pitchFamily="34" charset="-122"/>
                <a:cs typeface="Cambria" pitchFamily="34" charset="-120"/>
              </a:rPr>
              <a:t>Elitismo y </a:t>
            </a:r>
            <a:r>
              <a:rPr lang="en-US" sz="2600" b="1" dirty="0">
                <a:solidFill>
                  <a:srgbClr val="0F3460"/>
                </a:solidFill>
                <a:latin typeface="Cambria" pitchFamily="34" charset="0"/>
                <a:ea typeface="Cambria" pitchFamily="34" charset="-122"/>
                <a:cs typeface="Cambria" pitchFamily="34" charset="-120"/>
              </a:rPr>
              <a:t>Referencia Aleatoria</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7" name="Text 5"/>
          <p:cNvSpPr/>
          <p:nvPr/>
        </p:nvSpPr>
        <p:spPr>
          <a:xfrm>
            <a:off x="914400" y="4787891"/>
            <a:ext cx="731520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6 – Fitness de E1–E3 + E7 con elitismo (100 gens, 50 tonos)</a:t>
            </a:r>
            <a:endParaRPr lang="en-US" sz="1000" dirty="0"/>
          </a:p>
        </p:txBody>
      </p:sp>
      <p:pic>
        <p:nvPicPr>
          <p:cNvPr id="10" name="Picture 9">
            <a:extLst>
              <a:ext uri="{FF2B5EF4-FFF2-40B4-BE49-F238E27FC236}">
                <a16:creationId xmlns:a16="http://schemas.microsoft.com/office/drawing/2014/main" id="{BD39A5F9-3928-F122-4DA3-715C569216F7}"/>
              </a:ext>
            </a:extLst>
          </p:cNvPr>
          <p:cNvPicPr>
            <a:picLocks noChangeAspect="1"/>
          </p:cNvPicPr>
          <p:nvPr/>
        </p:nvPicPr>
        <p:blipFill>
          <a:blip r:embed="rId3"/>
          <a:stretch>
            <a:fillRect/>
          </a:stretch>
        </p:blipFill>
        <p:spPr>
          <a:xfrm>
            <a:off x="957444" y="980773"/>
            <a:ext cx="7229111" cy="3761397"/>
          </a:xfrm>
          <a:prstGeom prst="rect">
            <a:avLst/>
          </a:prstGeom>
          <a:ln w="19050">
            <a:solidFill>
              <a:schemeClr val="accent1"/>
            </a:solidFill>
            <a:prstDash val="lgDash"/>
          </a:ln>
        </p:spPr>
      </p:pic>
      <p:pic>
        <p:nvPicPr>
          <p:cNvPr id="12" name="Picture 11">
            <a:extLst>
              <a:ext uri="{FF2B5EF4-FFF2-40B4-BE49-F238E27FC236}">
                <a16:creationId xmlns:a16="http://schemas.microsoft.com/office/drawing/2014/main" id="{B1292C39-6F39-89CD-97A5-373280DAE68B}"/>
              </a:ext>
            </a:extLst>
          </p:cNvPr>
          <p:cNvPicPr>
            <a:picLocks noChangeAspect="1"/>
          </p:cNvPicPr>
          <p:nvPr/>
        </p:nvPicPr>
        <p:blipFill>
          <a:blip r:embed="rId4"/>
          <a:stretch>
            <a:fillRect/>
          </a:stretch>
        </p:blipFill>
        <p:spPr>
          <a:xfrm>
            <a:off x="1453822" y="1178242"/>
            <a:ext cx="2160000" cy="92666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Incorporación de E4–E6 y Mayor Longitud (75 tonos)</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7" name="Text 5"/>
          <p:cNvSpPr/>
          <p:nvPr/>
        </p:nvSpPr>
        <p:spPr>
          <a:xfrm>
            <a:off x="457200" y="4777740"/>
            <a:ext cx="822960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7 – Fitness máximo de E1–E7 (1000 gens, 75 tonos, elitismo)</a:t>
            </a:r>
            <a:endParaRPr lang="en-US" sz="1000" dirty="0"/>
          </a:p>
        </p:txBody>
      </p:sp>
      <p:pic>
        <p:nvPicPr>
          <p:cNvPr id="10" name="Picture 9">
            <a:extLst>
              <a:ext uri="{FF2B5EF4-FFF2-40B4-BE49-F238E27FC236}">
                <a16:creationId xmlns:a16="http://schemas.microsoft.com/office/drawing/2014/main" id="{C63D907B-66A7-2F84-EF52-9ADE1E29F1EB}"/>
              </a:ext>
            </a:extLst>
          </p:cNvPr>
          <p:cNvPicPr>
            <a:picLocks noChangeAspect="1"/>
          </p:cNvPicPr>
          <p:nvPr/>
        </p:nvPicPr>
        <p:blipFill>
          <a:blip r:embed="rId3"/>
          <a:stretch>
            <a:fillRect/>
          </a:stretch>
        </p:blipFill>
        <p:spPr>
          <a:xfrm>
            <a:off x="972000" y="985769"/>
            <a:ext cx="7200000" cy="3746250"/>
          </a:xfrm>
          <a:prstGeom prst="rect">
            <a:avLst/>
          </a:prstGeom>
          <a:ln w="19050">
            <a:solidFill>
              <a:schemeClr val="accent1"/>
            </a:solidFill>
            <a:prstDash val="lgDash"/>
          </a:ln>
        </p:spPr>
      </p:pic>
      <p:pic>
        <p:nvPicPr>
          <p:cNvPr id="12" name="Picture 11">
            <a:extLst>
              <a:ext uri="{FF2B5EF4-FFF2-40B4-BE49-F238E27FC236}">
                <a16:creationId xmlns:a16="http://schemas.microsoft.com/office/drawing/2014/main" id="{3FFD4E69-6953-B9F9-35BB-0503E4C72431}"/>
              </a:ext>
            </a:extLst>
          </p:cNvPr>
          <p:cNvPicPr>
            <a:picLocks noChangeAspect="1"/>
          </p:cNvPicPr>
          <p:nvPr/>
        </p:nvPicPr>
        <p:blipFill>
          <a:blip r:embed="rId4"/>
          <a:stretch>
            <a:fillRect/>
          </a:stretch>
        </p:blipFill>
        <p:spPr>
          <a:xfrm>
            <a:off x="5624584" y="2113077"/>
            <a:ext cx="2160000" cy="157090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Análisis Complementario</a:t>
            </a:r>
            <a:r>
              <a:rPr lang="en-US" sz="2600" b="1">
                <a:solidFill>
                  <a:srgbClr val="0F3460"/>
                </a:solidFill>
                <a:latin typeface="Cambria" pitchFamily="34" charset="0"/>
                <a:ea typeface="Cambria" pitchFamily="34" charset="-122"/>
                <a:cs typeface="Cambria" pitchFamily="34" charset="-120"/>
              </a:rPr>
              <a:t>: Promedio</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6" name="Text 4"/>
          <p:cNvSpPr/>
          <p:nvPr/>
        </p:nvSpPr>
        <p:spPr>
          <a:xfrm>
            <a:off x="2606040" y="4777740"/>
            <a:ext cx="39319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8 – Fitness promedio (E1–E7)</a:t>
            </a:r>
            <a:endParaRPr lang="en-US" sz="1000" dirty="0"/>
          </a:p>
        </p:txBody>
      </p:sp>
      <p:pic>
        <p:nvPicPr>
          <p:cNvPr id="17" name="Picture 16">
            <a:extLst>
              <a:ext uri="{FF2B5EF4-FFF2-40B4-BE49-F238E27FC236}">
                <a16:creationId xmlns:a16="http://schemas.microsoft.com/office/drawing/2014/main" id="{05856B0E-2C2B-B549-E89C-CE5FF989EBB0}"/>
              </a:ext>
            </a:extLst>
          </p:cNvPr>
          <p:cNvPicPr>
            <a:picLocks noChangeAspect="1"/>
          </p:cNvPicPr>
          <p:nvPr/>
        </p:nvPicPr>
        <p:blipFill>
          <a:blip r:embed="rId3"/>
          <a:stretch>
            <a:fillRect/>
          </a:stretch>
        </p:blipFill>
        <p:spPr>
          <a:xfrm>
            <a:off x="1404691" y="976970"/>
            <a:ext cx="6334617" cy="3800770"/>
          </a:xfrm>
          <a:prstGeom prst="rect">
            <a:avLst/>
          </a:prstGeom>
          <a:ln w="19050">
            <a:solidFill>
              <a:schemeClr val="accent1"/>
            </a:solidFill>
            <a:prstDash val="lgDash"/>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Resumen de Resultados – Tonos (Tabla 1)</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95360" cy="3520440"/>
        </p:xfrm>
        <a:graphic>
          <a:graphicData uri="http://schemas.openxmlformats.org/drawingml/2006/table">
            <a:tbl>
              <a:tblPr/>
              <a:tblGrid>
                <a:gridCol w="1074420">
                  <a:extLst>
                    <a:ext uri="{9D8B030D-6E8A-4147-A177-3AD203B41FA5}">
                      <a16:colId xmlns:a16="http://schemas.microsoft.com/office/drawing/2014/main" val="20000"/>
                    </a:ext>
                  </a:extLst>
                </a:gridCol>
                <a:gridCol w="1074420">
                  <a:extLst>
                    <a:ext uri="{9D8B030D-6E8A-4147-A177-3AD203B41FA5}">
                      <a16:colId xmlns:a16="http://schemas.microsoft.com/office/drawing/2014/main" val="20001"/>
                    </a:ext>
                  </a:extLst>
                </a:gridCol>
                <a:gridCol w="1074420">
                  <a:extLst>
                    <a:ext uri="{9D8B030D-6E8A-4147-A177-3AD203B41FA5}">
                      <a16:colId xmlns:a16="http://schemas.microsoft.com/office/drawing/2014/main" val="20002"/>
                    </a:ext>
                  </a:extLst>
                </a:gridCol>
                <a:gridCol w="1074420">
                  <a:extLst>
                    <a:ext uri="{9D8B030D-6E8A-4147-A177-3AD203B41FA5}">
                      <a16:colId xmlns:a16="http://schemas.microsoft.com/office/drawing/2014/main" val="20003"/>
                    </a:ext>
                  </a:extLst>
                </a:gridCol>
                <a:gridCol w="1074420">
                  <a:extLst>
                    <a:ext uri="{9D8B030D-6E8A-4147-A177-3AD203B41FA5}">
                      <a16:colId xmlns:a16="http://schemas.microsoft.com/office/drawing/2014/main" val="20004"/>
                    </a:ext>
                  </a:extLst>
                </a:gridCol>
                <a:gridCol w="1074420">
                  <a:extLst>
                    <a:ext uri="{9D8B030D-6E8A-4147-A177-3AD203B41FA5}">
                      <a16:colId xmlns:a16="http://schemas.microsoft.com/office/drawing/2014/main" val="20005"/>
                    </a:ext>
                  </a:extLst>
                </a:gridCol>
                <a:gridCol w="1074420">
                  <a:extLst>
                    <a:ext uri="{9D8B030D-6E8A-4147-A177-3AD203B41FA5}">
                      <a16:colId xmlns:a16="http://schemas.microsoft.com/office/drawing/2014/main" val="20006"/>
                    </a:ext>
                  </a:extLst>
                </a:gridCol>
                <a:gridCol w="1074420">
                  <a:extLst>
                    <a:ext uri="{9D8B030D-6E8A-4147-A177-3AD203B41FA5}">
                      <a16:colId xmlns:a16="http://schemas.microsoft.com/office/drawing/2014/main" val="20007"/>
                    </a:ext>
                  </a:extLst>
                </a:gridCol>
              </a:tblGrid>
              <a:tr h="50292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Métrica</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E1</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E3</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E5</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E7</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extLst>
                  <a:ext uri="{0D108BD9-81ED-4DB2-BD59-A6C34878D82A}">
                    <a16:rowId xmlns:a16="http://schemas.microsoft.com/office/drawing/2014/main" val="10000"/>
                  </a:ext>
                </a:extLst>
              </a:tr>
              <a:tr h="502920">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Tiempo total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2413s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2448s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2377s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2414s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2409s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2403s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2681s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Tiempo prom/ejec.</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80.4s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81.6s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79.2s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80.5s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80.3s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80.1s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89.4s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Ejec. más rápida</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76.9s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80.6s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77.5s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79.6s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78.5s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78.6s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77.4s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Ejec. más lenta</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100s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83.4s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81.8s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81.4s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84.4s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91.1s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176s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Desv. estándar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3.9s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0.7s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1.0s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0.4s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1.1s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2.5s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25.8s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Mejor fitness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0.3201</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0.3348</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0.3266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0.3372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0.347</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0.3372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0.2029</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p:nvPr/>
        </p:nvSpPr>
        <p:spPr>
          <a:xfrm>
            <a:off x="274320" y="4736592"/>
            <a:ext cx="8595360" cy="274320"/>
          </a:xfrm>
          <a:prstGeom prst="rect">
            <a:avLst/>
          </a:prstGeom>
          <a:noFill/>
          <a:ln/>
        </p:spPr>
        <p:txBody>
          <a:bodyPr wrap="square" rtlCol="0" anchor="ctr"/>
          <a:lstStyle/>
          <a:p>
            <a:pPr marL="0" indent="0" algn="ctr">
              <a:buNone/>
            </a:pPr>
            <a:r>
              <a:rPr lang="en-US" sz="1200" i="1" dirty="0">
                <a:solidFill>
                  <a:srgbClr val="0D9488"/>
                </a:solidFill>
                <a:latin typeface="Calibri" pitchFamily="34" charset="0"/>
                <a:ea typeface="Calibri" pitchFamily="34" charset="-122"/>
                <a:cs typeface="Calibri" pitchFamily="34" charset="-120"/>
              </a:rPr>
              <a:t>E5 (recombinación de 4 puntos) obtuvo el mejor fitness: 0.347</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4">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Distribución Tonal de la Salida Generada</a:t>
            </a:r>
            <a:endParaRPr lang="en-US" sz="3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Comparación de Distribuciones Tonales (Fig. 11)</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5" name="Text 3"/>
          <p:cNvSpPr/>
          <p:nvPr/>
        </p:nvSpPr>
        <p:spPr>
          <a:xfrm>
            <a:off x="457200" y="1909323"/>
            <a:ext cx="8229600" cy="1133856"/>
          </a:xfrm>
          <a:prstGeom prst="rect">
            <a:avLst/>
          </a:prstGeom>
          <a:noFill/>
          <a:ln/>
        </p:spPr>
        <p:txBody>
          <a:bodyPr wrap="square" rtlCol="0" anchor="ctr"/>
          <a:lstStyle/>
          <a:p>
            <a:pPr marL="0" indent="0" algn="ctr">
              <a:buNone/>
            </a:pPr>
            <a:r>
              <a:rPr lang="en-US" sz="1300" i="1" dirty="0">
                <a:solidFill>
                  <a:srgbClr val="0D9488"/>
                </a:solidFill>
                <a:latin typeface="Calibri" pitchFamily="34" charset="0"/>
                <a:ea typeface="Calibri" pitchFamily="34" charset="-122"/>
                <a:cs typeface="Calibri" pitchFamily="34" charset="-120"/>
              </a:rPr>
              <a:t>[ imagen ]</a:t>
            </a:r>
            <a:endParaRPr lang="en-US" sz="1300" dirty="0"/>
          </a:p>
        </p:txBody>
      </p:sp>
      <p:sp>
        <p:nvSpPr>
          <p:cNvPr id="6" name="Text 4"/>
          <p:cNvSpPr/>
          <p:nvPr/>
        </p:nvSpPr>
        <p:spPr>
          <a:xfrm>
            <a:off x="457200" y="3376496"/>
            <a:ext cx="822960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11 – Distribución de tonos: Overworld, Let It Be y resultado de E5</a:t>
            </a:r>
            <a:endParaRPr lang="en-US" sz="1000" dirty="0"/>
          </a:p>
        </p:txBody>
      </p:sp>
      <p:sp>
        <p:nvSpPr>
          <p:cNvPr id="7" name="Text 5"/>
          <p:cNvSpPr/>
          <p:nvPr/>
        </p:nvSpPr>
        <p:spPr>
          <a:xfrm>
            <a:off x="457199" y="3716292"/>
            <a:ext cx="8229600" cy="1165860"/>
          </a:xfrm>
          <a:prstGeom prst="rect">
            <a:avLst/>
          </a:prstGeom>
          <a:noFill/>
          <a:ln/>
        </p:spPr>
        <p:txBody>
          <a:bodyPr wrap="square" rtlCol="0" anchor="t"/>
          <a:lstStyle/>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Overworld: rango aprox. 65–85, tono más frecuente ≈ 73.</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Let It Be: rango aprox. 53–73, tono más frecuente ≈ 64.</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Resultado E5: rango aprox. 32–66, tono más frecuente ≈ 51 → concentrado en la parte baja del espectro.</a:t>
            </a:r>
            <a:endParaRPr lang="en-US" sz="1300" dirty="0"/>
          </a:p>
          <a:p>
            <a:pPr marL="342900" indent="-342900">
              <a:spcAft>
                <a:spcPts val="600"/>
              </a:spcAft>
              <a:buSzPct val="100000"/>
              <a:buChar char="•"/>
            </a:pPr>
            <a:r>
              <a:rPr lang="en-US" sz="1300" b="1" dirty="0">
                <a:solidFill>
                  <a:srgbClr val="1A1A2E"/>
                </a:solidFill>
                <a:latin typeface="Calibri" pitchFamily="34" charset="0"/>
                <a:ea typeface="Calibri" pitchFamily="34" charset="-122"/>
                <a:cs typeface="Calibri" pitchFamily="34" charset="-120"/>
              </a:rPr>
              <a:t>Conclusión</a:t>
            </a:r>
            <a:r>
              <a:rPr lang="en-US" sz="1300" dirty="0">
                <a:solidFill>
                  <a:srgbClr val="1A1A2E"/>
                </a:solidFill>
                <a:latin typeface="Calibri" pitchFamily="34" charset="0"/>
                <a:ea typeface="Calibri" pitchFamily="34" charset="-122"/>
                <a:cs typeface="Calibri" pitchFamily="34" charset="-120"/>
              </a:rPr>
              <a:t>: el AG no logra abarcar el rango tonal completo de ambas guías.</a:t>
            </a:r>
            <a:endParaRPr lang="en-US" sz="1300" dirty="0"/>
          </a:p>
        </p:txBody>
      </p:sp>
      <p:pic>
        <p:nvPicPr>
          <p:cNvPr id="9" name="Picture 8">
            <a:extLst>
              <a:ext uri="{FF2B5EF4-FFF2-40B4-BE49-F238E27FC236}">
                <a16:creationId xmlns:a16="http://schemas.microsoft.com/office/drawing/2014/main" id="{803A97B5-E924-AA1E-45FA-BA074B976012}"/>
              </a:ext>
            </a:extLst>
          </p:cNvPr>
          <p:cNvPicPr>
            <a:picLocks noChangeAspect="1"/>
          </p:cNvPicPr>
          <p:nvPr/>
        </p:nvPicPr>
        <p:blipFill>
          <a:blip r:embed="rId3"/>
          <a:stretch>
            <a:fillRect/>
          </a:stretch>
        </p:blipFill>
        <p:spPr>
          <a:xfrm>
            <a:off x="431296" y="1114987"/>
            <a:ext cx="8281407" cy="2206988"/>
          </a:xfrm>
          <a:prstGeom prst="rect">
            <a:avLst/>
          </a:prstGeom>
          <a:ln w="19050">
            <a:solidFill>
              <a:schemeClr val="accent1"/>
            </a:solidFill>
            <a:prstDash val="lgDash"/>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6">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Experimento 2</a:t>
            </a:r>
            <a:r>
              <a:rPr lang="en-US" sz="3200" b="1">
                <a:solidFill>
                  <a:srgbClr val="FFFFFF"/>
                </a:solidFill>
                <a:latin typeface="Cambria" pitchFamily="34" charset="0"/>
                <a:ea typeface="Cambria" pitchFamily="34" charset="-122"/>
                <a:cs typeface="Cambria" pitchFamily="34" charset="-120"/>
              </a:rPr>
              <a:t>: </a:t>
            </a:r>
          </a:p>
          <a:p>
            <a:pPr marL="0" indent="0" algn="ctr">
              <a:buNone/>
            </a:pPr>
            <a:r>
              <a:rPr lang="en-US" sz="3200" b="1">
                <a:solidFill>
                  <a:srgbClr val="FFFFFF"/>
                </a:solidFill>
                <a:latin typeface="Cambria" pitchFamily="34" charset="0"/>
                <a:ea typeface="Cambria" pitchFamily="34" charset="-122"/>
                <a:cs typeface="Cambria" pitchFamily="34" charset="-120"/>
              </a:rPr>
              <a:t>Evolución </a:t>
            </a:r>
            <a:r>
              <a:rPr lang="en-US" sz="3200" b="1" dirty="0">
                <a:solidFill>
                  <a:srgbClr val="FFFFFF"/>
                </a:solidFill>
                <a:latin typeface="Cambria" pitchFamily="34" charset="0"/>
                <a:ea typeface="Cambria" pitchFamily="34" charset="-122"/>
                <a:cs typeface="Cambria" pitchFamily="34" charset="-120"/>
              </a:rPr>
              <a:t>de Duraciones de Notas</a:t>
            </a:r>
            <a:endParaRPr lang="en-US"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Resultados – Evolución de Duraciones (Fig. 12)</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6110257" y="1038471"/>
            <a:ext cx="2548522" cy="1230843"/>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Se adapta la función de compresión para trabajar con números decimales y se repite el experimento evolucionando duraciones en lugar de tonos.</a:t>
            </a:r>
            <a:endParaRPr lang="en-US" sz="1400" dirty="0"/>
          </a:p>
        </p:txBody>
      </p:sp>
      <p:sp>
        <p:nvSpPr>
          <p:cNvPr id="7" name="Text 5"/>
          <p:cNvSpPr/>
          <p:nvPr/>
        </p:nvSpPr>
        <p:spPr>
          <a:xfrm>
            <a:off x="565388" y="4734412"/>
            <a:ext cx="5190099"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12 – Fitness de E1–E7 aplicado a duración de notas (1000 gens, 75 notas)</a:t>
            </a:r>
            <a:endParaRPr lang="en-US" sz="1000" dirty="0"/>
          </a:p>
        </p:txBody>
      </p:sp>
      <p:sp>
        <p:nvSpPr>
          <p:cNvPr id="8" name="Text 6"/>
          <p:cNvSpPr/>
          <p:nvPr/>
        </p:nvSpPr>
        <p:spPr>
          <a:xfrm>
            <a:off x="6055688" y="2412144"/>
            <a:ext cx="2799244" cy="2120445"/>
          </a:xfrm>
          <a:prstGeom prst="rect">
            <a:avLst/>
          </a:prstGeom>
          <a:noFill/>
          <a:ln/>
        </p:spPr>
        <p:txBody>
          <a:bodyPr wrap="square" rtlCol="0" anchor="t"/>
          <a:lstStyle/>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E5 muestra clara superioridad durante las primeras 300 generaciones.</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Al finalizar, E2 (doble) y E5 (cuádruple) empatan en el mejor fitness; E1 queda cerca.</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La </a:t>
            </a:r>
            <a:r>
              <a:rPr lang="en-US" sz="1300" b="1" dirty="0">
                <a:solidFill>
                  <a:srgbClr val="1A1A2E"/>
                </a:solidFill>
                <a:latin typeface="Calibri" pitchFamily="34" charset="0"/>
                <a:ea typeface="Calibri" pitchFamily="34" charset="-122"/>
                <a:cs typeface="Calibri" pitchFamily="34" charset="-120"/>
              </a:rPr>
              <a:t>ventaja</a:t>
            </a:r>
            <a:r>
              <a:rPr lang="en-US" sz="1300" dirty="0">
                <a:solidFill>
                  <a:srgbClr val="1A1A2E"/>
                </a:solidFill>
                <a:latin typeface="Calibri" pitchFamily="34" charset="0"/>
                <a:ea typeface="Calibri" pitchFamily="34" charset="-122"/>
                <a:cs typeface="Calibri" pitchFamily="34" charset="-120"/>
              </a:rPr>
              <a:t> de mayor exploración inicial </a:t>
            </a:r>
            <a:r>
              <a:rPr lang="en-US" sz="1300" b="1" dirty="0">
                <a:solidFill>
                  <a:srgbClr val="1A1A2E"/>
                </a:solidFill>
                <a:latin typeface="Calibri" pitchFamily="34" charset="0"/>
                <a:ea typeface="Calibri" pitchFamily="34" charset="-122"/>
                <a:cs typeface="Calibri" pitchFamily="34" charset="-120"/>
              </a:rPr>
              <a:t>no se sostiene</a:t>
            </a:r>
            <a:r>
              <a:rPr lang="en-US" sz="1300" dirty="0">
                <a:solidFill>
                  <a:srgbClr val="1A1A2E"/>
                </a:solidFill>
                <a:latin typeface="Calibri" pitchFamily="34" charset="0"/>
                <a:ea typeface="Calibri" pitchFamily="34" charset="-122"/>
                <a:cs typeface="Calibri" pitchFamily="34" charset="-120"/>
              </a:rPr>
              <a:t> hasta el final en este caso.</a:t>
            </a:r>
            <a:endParaRPr lang="en-US" sz="1300" dirty="0"/>
          </a:p>
        </p:txBody>
      </p:sp>
      <p:pic>
        <p:nvPicPr>
          <p:cNvPr id="10" name="Picture 9">
            <a:extLst>
              <a:ext uri="{FF2B5EF4-FFF2-40B4-BE49-F238E27FC236}">
                <a16:creationId xmlns:a16="http://schemas.microsoft.com/office/drawing/2014/main" id="{01363B36-CE82-F930-2F42-46EC078AA2F9}"/>
              </a:ext>
            </a:extLst>
          </p:cNvPr>
          <p:cNvPicPr>
            <a:picLocks noChangeAspect="1"/>
          </p:cNvPicPr>
          <p:nvPr/>
        </p:nvPicPr>
        <p:blipFill>
          <a:blip r:embed="rId3"/>
          <a:stretch>
            <a:fillRect/>
          </a:stretch>
        </p:blipFill>
        <p:spPr>
          <a:xfrm>
            <a:off x="457200" y="1038471"/>
            <a:ext cx="5406476" cy="3604318"/>
          </a:xfrm>
          <a:prstGeom prst="rect">
            <a:avLst/>
          </a:prstGeom>
          <a:ln w="19050">
            <a:solidFill>
              <a:schemeClr val="accent1"/>
            </a:solidFill>
            <a:prstDash val="lgDash"/>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Resumen de Resultados – Duraciones (Tabla 2)</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487168"/>
        </p:xfrm>
        <a:graphic>
          <a:graphicData uri="http://schemas.openxmlformats.org/drawingml/2006/table">
            <a:tbl>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gridCol w="1028700">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gridCol w="1028700">
                  <a:extLst>
                    <a:ext uri="{9D8B030D-6E8A-4147-A177-3AD203B41FA5}">
                      <a16:colId xmlns:a16="http://schemas.microsoft.com/office/drawing/2014/main" val="20007"/>
                    </a:ext>
                  </a:extLst>
                </a:gridCol>
              </a:tblGrid>
              <a:tr h="62179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Métrica</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E1</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E2</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E3</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E4</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E5</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E6</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E7</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extLst>
                  <a:ext uri="{0D108BD9-81ED-4DB2-BD59-A6C34878D82A}">
                    <a16:rowId xmlns:a16="http://schemas.microsoft.com/office/drawing/2014/main" val="10000"/>
                  </a:ext>
                </a:extLst>
              </a:tr>
              <a:tr h="621792">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Tiempo total</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377s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404s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228s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225s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270s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220s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155s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Tiempo prom/ej.</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377s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404s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228s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225s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270s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220s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155s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1792">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Mejor fitness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0.0141</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0.0151</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0.0137</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0.0121</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0.0151</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0.0128</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−0.0295</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457200" y="3852466"/>
            <a:ext cx="8229600" cy="908314"/>
          </a:xfrm>
          <a:prstGeom prst="rect">
            <a:avLst/>
          </a:prstGeom>
          <a:noFill/>
          <a:ln/>
        </p:spPr>
        <p:txBody>
          <a:bodyPr wrap="square" rtlCol="0" anchor="t"/>
          <a:lstStyle/>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Los valores de fitness son mucho más bajos que en la evolución de tonos, en parte porque la NCD sobre secuencias decimales con valores muy similares entre sí es menos sensible.</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La estrategia aleatoria (E7) obtiene un </a:t>
            </a:r>
            <a:r>
              <a:rPr lang="en-US" sz="1400">
                <a:solidFill>
                  <a:srgbClr val="1A1A2E"/>
                </a:solidFill>
                <a:latin typeface="Calibri" pitchFamily="34" charset="0"/>
                <a:ea typeface="Calibri" pitchFamily="34" charset="-122"/>
                <a:cs typeface="Calibri" pitchFamily="34" charset="-120"/>
              </a:rPr>
              <a:t>fitness negativo.</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9">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Distribución Temporal de la Salida Generada</a:t>
            </a:r>
            <a:endParaRPr lang="en-US" sz="3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Comparación de Distribuciones Temporales (Fig. 13)</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6" name="Text 4"/>
          <p:cNvSpPr/>
          <p:nvPr/>
        </p:nvSpPr>
        <p:spPr>
          <a:xfrm>
            <a:off x="457200" y="3634708"/>
            <a:ext cx="822960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13 – Distribución de duraciones: Overworld, Let It Be y resultado de E5</a:t>
            </a:r>
            <a:endParaRPr lang="en-US" sz="1000" dirty="0"/>
          </a:p>
        </p:txBody>
      </p:sp>
      <p:sp>
        <p:nvSpPr>
          <p:cNvPr id="7" name="Text 5"/>
          <p:cNvSpPr/>
          <p:nvPr/>
        </p:nvSpPr>
        <p:spPr>
          <a:xfrm>
            <a:off x="457200" y="3903129"/>
            <a:ext cx="8229600" cy="1165860"/>
          </a:xfrm>
          <a:prstGeom prst="rect">
            <a:avLst/>
          </a:prstGeom>
          <a:noFill/>
          <a:ln/>
        </p:spPr>
        <p:txBody>
          <a:bodyPr wrap="square" rtlCol="0" anchor="t"/>
          <a:lstStyle/>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Overworld: todas las notas tienen aprox. la misma duración ≈ 0.095s.</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Let It Be: duraciones entre 0.20s y 2.75s; las más frecuentes ≤ 0.50s.</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Resultado E5: duraciones entre 0.80s y 7.70s, las más frecuentes ≈ 1.50s → 'estiramiento' excesivo.</a:t>
            </a:r>
            <a:endParaRPr lang="en-US" sz="1300" dirty="0"/>
          </a:p>
          <a:p>
            <a:pPr marL="342900" indent="-342900">
              <a:spcAft>
                <a:spcPts val="600"/>
              </a:spcAft>
              <a:buSzPct val="100000"/>
              <a:buChar char="•"/>
            </a:pPr>
            <a:r>
              <a:rPr lang="en-US" sz="1300" b="1" dirty="0">
                <a:solidFill>
                  <a:srgbClr val="1A1A2E"/>
                </a:solidFill>
                <a:latin typeface="Calibri" pitchFamily="34" charset="0"/>
                <a:ea typeface="Calibri" pitchFamily="34" charset="-122"/>
                <a:cs typeface="Calibri" pitchFamily="34" charset="-120"/>
              </a:rPr>
              <a:t>Conclusión</a:t>
            </a:r>
            <a:r>
              <a:rPr lang="en-US" sz="1300" dirty="0">
                <a:solidFill>
                  <a:srgbClr val="1A1A2E"/>
                </a:solidFill>
                <a:latin typeface="Calibri" pitchFamily="34" charset="0"/>
                <a:ea typeface="Calibri" pitchFamily="34" charset="-122"/>
                <a:cs typeface="Calibri" pitchFamily="34" charset="-120"/>
              </a:rPr>
              <a:t>: el AG falla en reproducir el rango temporal de ambas melodías guía.</a:t>
            </a:r>
            <a:endParaRPr lang="en-US" sz="1300" dirty="0"/>
          </a:p>
        </p:txBody>
      </p:sp>
      <p:pic>
        <p:nvPicPr>
          <p:cNvPr id="9" name="Picture 8">
            <a:extLst>
              <a:ext uri="{FF2B5EF4-FFF2-40B4-BE49-F238E27FC236}">
                <a16:creationId xmlns:a16="http://schemas.microsoft.com/office/drawing/2014/main" id="{9C1EA863-DE63-2409-062B-0F4424CE9A10}"/>
              </a:ext>
            </a:extLst>
          </p:cNvPr>
          <p:cNvPicPr>
            <a:picLocks noChangeAspect="1"/>
          </p:cNvPicPr>
          <p:nvPr/>
        </p:nvPicPr>
        <p:blipFill>
          <a:blip r:embed="rId3"/>
          <a:stretch>
            <a:fillRect/>
          </a:stretch>
        </p:blipFill>
        <p:spPr>
          <a:xfrm>
            <a:off x="485222" y="1068107"/>
            <a:ext cx="8173556" cy="2509787"/>
          </a:xfrm>
          <a:prstGeom prst="rect">
            <a:avLst/>
          </a:prstGeom>
          <a:ln w="19050">
            <a:solidFill>
              <a:schemeClr val="accent1"/>
            </a:solidFill>
            <a:prstDash val="lgDash"/>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a:solidFill>
                  <a:srgbClr val="FFFFFF"/>
                </a:solidFill>
                <a:latin typeface="Cambria" pitchFamily="34" charset="0"/>
                <a:ea typeface="Cambria" pitchFamily="34" charset="-122"/>
                <a:cs typeface="Cambria" pitchFamily="34" charset="-120"/>
              </a:rPr>
              <a:t>Validación Perceptiva: </a:t>
            </a:r>
          </a:p>
          <a:p>
            <a:pPr marL="0" indent="0" algn="ctr">
              <a:buNone/>
            </a:pPr>
            <a:r>
              <a:rPr lang="en-US" sz="3200" b="1">
                <a:solidFill>
                  <a:srgbClr val="FFFFFF"/>
                </a:solidFill>
                <a:latin typeface="Cambria" pitchFamily="34" charset="0"/>
                <a:ea typeface="Cambria" pitchFamily="34" charset="-122"/>
                <a:cs typeface="Cambria" pitchFamily="34" charset="-120"/>
              </a:rPr>
              <a:t>Encuesta</a:t>
            </a:r>
            <a:endParaRPr lang="en-US" sz="3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Encuesta – Metodología y Resultados</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457200" y="960120"/>
            <a:ext cx="822960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Se consultó a 29 personas cuál de tres composiciones </a:t>
            </a:r>
            <a:r>
              <a:rPr lang="en-US" sz="1400">
                <a:solidFill>
                  <a:srgbClr val="1A1A2E"/>
                </a:solidFill>
                <a:latin typeface="Calibri" pitchFamily="34" charset="0"/>
                <a:ea typeface="Calibri" pitchFamily="34" charset="-122"/>
                <a:cs typeface="Calibri" pitchFamily="34" charset="-120"/>
              </a:rPr>
              <a:t>resultaba “más aceptable”:</a:t>
            </a:r>
            <a:endParaRPr lang="en-US" sz="1400" dirty="0"/>
          </a:p>
        </p:txBody>
      </p:sp>
      <p:sp>
        <p:nvSpPr>
          <p:cNvPr id="5" name="Shape 3"/>
          <p:cNvSpPr/>
          <p:nvPr/>
        </p:nvSpPr>
        <p:spPr>
          <a:xfrm>
            <a:off x="6313785" y="1727145"/>
            <a:ext cx="1430594" cy="1005840"/>
          </a:xfrm>
          <a:prstGeom prst="roundRect">
            <a:avLst>
              <a:gd name="adj" fmla="val 5405"/>
            </a:avLst>
          </a:prstGeom>
          <a:solidFill>
            <a:srgbClr val="FFFFFF"/>
          </a:solidFill>
          <a:ln w="25400">
            <a:solidFill>
              <a:srgbClr val="0D9488"/>
            </a:solidFill>
            <a:prstDash val="solid"/>
          </a:ln>
          <a:effectLst>
            <a:outerShdw blurRad="101600" dist="38100" dir="2700000" algn="bl" rotWithShape="0">
              <a:srgbClr val="000000">
                <a:alpha val="12000"/>
              </a:srgbClr>
            </a:outerShdw>
          </a:effectLst>
        </p:spPr>
        <p:txBody>
          <a:bodyPr/>
          <a:lstStyle/>
          <a:p>
            <a:endParaRPr lang="es-419"/>
          </a:p>
        </p:txBody>
      </p:sp>
      <p:sp>
        <p:nvSpPr>
          <p:cNvPr id="6" name="Text 4"/>
          <p:cNvSpPr/>
          <p:nvPr/>
        </p:nvSpPr>
        <p:spPr>
          <a:xfrm>
            <a:off x="6313785" y="1772865"/>
            <a:ext cx="1430594" cy="299034"/>
          </a:xfrm>
          <a:prstGeom prst="rect">
            <a:avLst/>
          </a:prstGeom>
          <a:noFill/>
          <a:ln/>
        </p:spPr>
        <p:txBody>
          <a:bodyPr wrap="square" rtlCol="0" anchor="ctr"/>
          <a:lstStyle/>
          <a:p>
            <a:pPr marL="0" indent="0" algn="ctr">
              <a:buNone/>
            </a:pPr>
            <a:r>
              <a:rPr lang="en-US" sz="2200" b="1" dirty="0">
                <a:solidFill>
                  <a:srgbClr val="0D9488"/>
                </a:solidFill>
                <a:latin typeface="Cambria" pitchFamily="34" charset="0"/>
                <a:ea typeface="Cambria" pitchFamily="34" charset="-122"/>
                <a:cs typeface="Cambria" pitchFamily="34" charset="-120"/>
              </a:rPr>
              <a:t>E5</a:t>
            </a:r>
            <a:endParaRPr lang="en-US" sz="2200" dirty="0"/>
          </a:p>
        </p:txBody>
      </p:sp>
      <p:sp>
        <p:nvSpPr>
          <p:cNvPr id="7" name="Text 5"/>
          <p:cNvSpPr/>
          <p:nvPr/>
        </p:nvSpPr>
        <p:spPr>
          <a:xfrm>
            <a:off x="6307148" y="2036643"/>
            <a:ext cx="1430594" cy="299034"/>
          </a:xfrm>
          <a:prstGeom prst="rect">
            <a:avLst/>
          </a:prstGeom>
          <a:noFill/>
          <a:ln/>
        </p:spPr>
        <p:txBody>
          <a:bodyPr wrap="square" rtlCol="0" anchor="ctr"/>
          <a:lstStyle/>
          <a:p>
            <a:pPr marL="0" indent="0" algn="ctr">
              <a:buNone/>
            </a:pPr>
            <a:r>
              <a:rPr lang="en-US" sz="2000" b="1" dirty="0">
                <a:solidFill>
                  <a:srgbClr val="1A1A2E"/>
                </a:solidFill>
                <a:latin typeface="Calibri" pitchFamily="34" charset="0"/>
                <a:ea typeface="Calibri" pitchFamily="34" charset="-122"/>
                <a:cs typeface="Calibri" pitchFamily="34" charset="-120"/>
              </a:rPr>
              <a:t>44.8%</a:t>
            </a:r>
            <a:endParaRPr lang="en-US" sz="2000" dirty="0"/>
          </a:p>
        </p:txBody>
      </p:sp>
      <p:sp>
        <p:nvSpPr>
          <p:cNvPr id="8" name="Text 6"/>
          <p:cNvSpPr/>
          <p:nvPr/>
        </p:nvSpPr>
        <p:spPr>
          <a:xfrm>
            <a:off x="6313785" y="2339445"/>
            <a:ext cx="1430594" cy="326218"/>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13 </a:t>
            </a:r>
            <a:r>
              <a:rPr lang="en-US" sz="1200">
                <a:solidFill>
                  <a:srgbClr val="64748B"/>
                </a:solidFill>
                <a:latin typeface="Calibri" pitchFamily="34" charset="0"/>
                <a:ea typeface="Calibri" pitchFamily="34" charset="-122"/>
                <a:cs typeface="Calibri" pitchFamily="34" charset="-120"/>
              </a:rPr>
              <a:t>votos </a:t>
            </a:r>
          </a:p>
          <a:p>
            <a:pPr marL="0" indent="0" algn="ctr">
              <a:buNone/>
            </a:pPr>
            <a:r>
              <a:rPr lang="en-US" sz="1200">
                <a:solidFill>
                  <a:srgbClr val="64748B"/>
                </a:solidFill>
                <a:latin typeface="Calibri" pitchFamily="34" charset="0"/>
                <a:ea typeface="Calibri" pitchFamily="34" charset="-122"/>
                <a:cs typeface="Calibri" pitchFamily="34" charset="-120"/>
              </a:rPr>
              <a:t>Recomb</a:t>
            </a:r>
            <a:r>
              <a:rPr lang="en-US" sz="1200" dirty="0">
                <a:solidFill>
                  <a:srgbClr val="64748B"/>
                </a:solidFill>
                <a:latin typeface="Calibri" pitchFamily="34" charset="0"/>
                <a:ea typeface="Calibri" pitchFamily="34" charset="-122"/>
                <a:cs typeface="Calibri" pitchFamily="34" charset="-120"/>
              </a:rPr>
              <a:t>. 4 puntos</a:t>
            </a:r>
            <a:endParaRPr lang="en-US" sz="1200" dirty="0"/>
          </a:p>
        </p:txBody>
      </p:sp>
      <p:sp>
        <p:nvSpPr>
          <p:cNvPr id="9" name="Shape 7"/>
          <p:cNvSpPr/>
          <p:nvPr/>
        </p:nvSpPr>
        <p:spPr>
          <a:xfrm>
            <a:off x="5333018" y="3122931"/>
            <a:ext cx="1430594" cy="1005840"/>
          </a:xfrm>
          <a:prstGeom prst="roundRect">
            <a:avLst>
              <a:gd name="adj" fmla="val 5405"/>
            </a:avLst>
          </a:prstGeom>
          <a:solidFill>
            <a:srgbClr val="FFFFFF"/>
          </a:solidFill>
          <a:ln w="25400">
            <a:solidFill>
              <a:srgbClr val="F59E0B"/>
            </a:solidFill>
            <a:prstDash val="solid"/>
          </a:ln>
          <a:effectLst>
            <a:outerShdw blurRad="101600" dist="38100" dir="2700000" algn="bl" rotWithShape="0">
              <a:srgbClr val="000000">
                <a:alpha val="12000"/>
              </a:srgbClr>
            </a:outerShdw>
          </a:effectLst>
        </p:spPr>
        <p:txBody>
          <a:bodyPr/>
          <a:lstStyle/>
          <a:p>
            <a:endParaRPr lang="es-419"/>
          </a:p>
        </p:txBody>
      </p:sp>
      <p:sp>
        <p:nvSpPr>
          <p:cNvPr id="10" name="Text 8"/>
          <p:cNvSpPr/>
          <p:nvPr/>
        </p:nvSpPr>
        <p:spPr>
          <a:xfrm>
            <a:off x="5333018" y="3168651"/>
            <a:ext cx="1430594" cy="299034"/>
          </a:xfrm>
          <a:prstGeom prst="rect">
            <a:avLst/>
          </a:prstGeom>
          <a:noFill/>
          <a:ln/>
        </p:spPr>
        <p:txBody>
          <a:bodyPr wrap="square" rtlCol="0" anchor="ctr"/>
          <a:lstStyle/>
          <a:p>
            <a:pPr marL="0" indent="0" algn="ctr">
              <a:buNone/>
            </a:pPr>
            <a:r>
              <a:rPr lang="en-US" sz="2200" b="1" dirty="0">
                <a:solidFill>
                  <a:srgbClr val="F59E0B"/>
                </a:solidFill>
                <a:latin typeface="Cambria" pitchFamily="34" charset="0"/>
                <a:ea typeface="Cambria" pitchFamily="34" charset="-122"/>
                <a:cs typeface="Cambria" pitchFamily="34" charset="-120"/>
              </a:rPr>
              <a:t>E7</a:t>
            </a:r>
            <a:endParaRPr lang="en-US" sz="2200" dirty="0"/>
          </a:p>
        </p:txBody>
      </p:sp>
      <p:sp>
        <p:nvSpPr>
          <p:cNvPr id="11" name="Text 9"/>
          <p:cNvSpPr/>
          <p:nvPr/>
        </p:nvSpPr>
        <p:spPr>
          <a:xfrm>
            <a:off x="5333018" y="3431172"/>
            <a:ext cx="1430594" cy="299034"/>
          </a:xfrm>
          <a:prstGeom prst="rect">
            <a:avLst/>
          </a:prstGeom>
          <a:noFill/>
          <a:ln/>
        </p:spPr>
        <p:txBody>
          <a:bodyPr wrap="square" rtlCol="0" anchor="ctr"/>
          <a:lstStyle/>
          <a:p>
            <a:pPr marL="0" indent="0" algn="ctr">
              <a:buNone/>
            </a:pPr>
            <a:r>
              <a:rPr lang="en-US" sz="2000" b="1" dirty="0">
                <a:solidFill>
                  <a:srgbClr val="1A1A2E"/>
                </a:solidFill>
                <a:latin typeface="Calibri" pitchFamily="34" charset="0"/>
                <a:ea typeface="Calibri" pitchFamily="34" charset="-122"/>
                <a:cs typeface="Calibri" pitchFamily="34" charset="-120"/>
              </a:rPr>
              <a:t>34.5%</a:t>
            </a:r>
            <a:endParaRPr lang="en-US" sz="2000" dirty="0"/>
          </a:p>
        </p:txBody>
      </p:sp>
      <p:sp>
        <p:nvSpPr>
          <p:cNvPr id="12" name="Text 10"/>
          <p:cNvSpPr/>
          <p:nvPr/>
        </p:nvSpPr>
        <p:spPr>
          <a:xfrm>
            <a:off x="5319744" y="3720381"/>
            <a:ext cx="1430594" cy="326218"/>
          </a:xfrm>
          <a:prstGeom prst="rect">
            <a:avLst/>
          </a:prstGeom>
          <a:noFill/>
          <a:ln/>
        </p:spPr>
        <p:txBody>
          <a:bodyPr wrap="square" rtlCol="0" anchor="ctr"/>
          <a:lstStyle/>
          <a:p>
            <a:pPr marL="0" indent="0" algn="ctr">
              <a:buNone/>
            </a:pPr>
            <a:r>
              <a:rPr lang="en-US" sz="1200">
                <a:solidFill>
                  <a:srgbClr val="64748B"/>
                </a:solidFill>
                <a:latin typeface="Calibri" pitchFamily="34" charset="0"/>
                <a:ea typeface="Calibri" pitchFamily="34" charset="-122"/>
                <a:cs typeface="Calibri" pitchFamily="34" charset="-120"/>
              </a:rPr>
              <a:t>10 votos </a:t>
            </a:r>
          </a:p>
          <a:p>
            <a:pPr marL="0" indent="0" algn="ctr">
              <a:buNone/>
            </a:pPr>
            <a:r>
              <a:rPr lang="en-US" sz="1200">
                <a:solidFill>
                  <a:srgbClr val="64748B"/>
                </a:solidFill>
                <a:latin typeface="Calibri" pitchFamily="34" charset="0"/>
                <a:ea typeface="Calibri" pitchFamily="34" charset="-122"/>
                <a:cs typeface="Calibri" pitchFamily="34" charset="-120"/>
              </a:rPr>
              <a:t>Aleatoria</a:t>
            </a:r>
            <a:endParaRPr lang="en-US" sz="1200" dirty="0"/>
          </a:p>
        </p:txBody>
      </p:sp>
      <p:sp>
        <p:nvSpPr>
          <p:cNvPr id="13" name="Shape 11"/>
          <p:cNvSpPr/>
          <p:nvPr/>
        </p:nvSpPr>
        <p:spPr>
          <a:xfrm>
            <a:off x="7382306" y="3125650"/>
            <a:ext cx="1430594" cy="1005840"/>
          </a:xfrm>
          <a:prstGeom prst="roundRect">
            <a:avLst>
              <a:gd name="adj" fmla="val 5405"/>
            </a:avLst>
          </a:prstGeom>
          <a:solidFill>
            <a:srgbClr val="FFFFFF"/>
          </a:solidFill>
          <a:ln w="25400">
            <a:solidFill>
              <a:srgbClr val="94A3B8"/>
            </a:solidFill>
            <a:prstDash val="solid"/>
          </a:ln>
          <a:effectLst>
            <a:outerShdw blurRad="101600" dist="38100" dir="2700000" algn="bl" rotWithShape="0">
              <a:srgbClr val="000000">
                <a:alpha val="12000"/>
              </a:srgbClr>
            </a:outerShdw>
          </a:effectLst>
        </p:spPr>
        <p:txBody>
          <a:bodyPr/>
          <a:lstStyle/>
          <a:p>
            <a:endParaRPr lang="es-419"/>
          </a:p>
        </p:txBody>
      </p:sp>
      <p:sp>
        <p:nvSpPr>
          <p:cNvPr id="14" name="Text 12"/>
          <p:cNvSpPr/>
          <p:nvPr/>
        </p:nvSpPr>
        <p:spPr>
          <a:xfrm>
            <a:off x="7382306" y="3171370"/>
            <a:ext cx="1430594" cy="299034"/>
          </a:xfrm>
          <a:prstGeom prst="rect">
            <a:avLst/>
          </a:prstGeom>
          <a:noFill/>
          <a:ln/>
        </p:spPr>
        <p:txBody>
          <a:bodyPr wrap="square" rtlCol="0" anchor="ctr"/>
          <a:lstStyle/>
          <a:p>
            <a:pPr marL="0" indent="0" algn="ctr">
              <a:buNone/>
            </a:pPr>
            <a:r>
              <a:rPr lang="en-US" sz="2200" b="1" dirty="0">
                <a:solidFill>
                  <a:srgbClr val="94A3B8"/>
                </a:solidFill>
                <a:latin typeface="Cambria" pitchFamily="34" charset="0"/>
                <a:ea typeface="Cambria" pitchFamily="34" charset="-122"/>
                <a:cs typeface="Cambria" pitchFamily="34" charset="-120"/>
              </a:rPr>
              <a:t>E6</a:t>
            </a:r>
            <a:endParaRPr lang="en-US" sz="2200" dirty="0"/>
          </a:p>
        </p:txBody>
      </p:sp>
      <p:sp>
        <p:nvSpPr>
          <p:cNvPr id="15" name="Text 13"/>
          <p:cNvSpPr/>
          <p:nvPr/>
        </p:nvSpPr>
        <p:spPr>
          <a:xfrm>
            <a:off x="7382306" y="3439791"/>
            <a:ext cx="1430594" cy="299034"/>
          </a:xfrm>
          <a:prstGeom prst="rect">
            <a:avLst/>
          </a:prstGeom>
          <a:noFill/>
          <a:ln/>
        </p:spPr>
        <p:txBody>
          <a:bodyPr wrap="square" rtlCol="0" anchor="ctr"/>
          <a:lstStyle/>
          <a:p>
            <a:pPr marL="0" indent="0" algn="ctr">
              <a:buNone/>
            </a:pPr>
            <a:r>
              <a:rPr lang="en-US" sz="2000" b="1" dirty="0">
                <a:solidFill>
                  <a:srgbClr val="1A1A2E"/>
                </a:solidFill>
                <a:latin typeface="Calibri" pitchFamily="34" charset="0"/>
                <a:ea typeface="Calibri" pitchFamily="34" charset="-122"/>
                <a:cs typeface="Calibri" pitchFamily="34" charset="-120"/>
              </a:rPr>
              <a:t>20.7%</a:t>
            </a:r>
            <a:endParaRPr lang="en-US" sz="2000" dirty="0"/>
          </a:p>
        </p:txBody>
      </p:sp>
      <p:sp>
        <p:nvSpPr>
          <p:cNvPr id="16" name="Text 14"/>
          <p:cNvSpPr/>
          <p:nvPr/>
        </p:nvSpPr>
        <p:spPr>
          <a:xfrm>
            <a:off x="7369032" y="3723698"/>
            <a:ext cx="1430594" cy="326218"/>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6 </a:t>
            </a:r>
            <a:r>
              <a:rPr lang="en-US" sz="1200">
                <a:solidFill>
                  <a:srgbClr val="64748B"/>
                </a:solidFill>
                <a:latin typeface="Calibri" pitchFamily="34" charset="0"/>
                <a:ea typeface="Calibri" pitchFamily="34" charset="-122"/>
                <a:cs typeface="Calibri" pitchFamily="34" charset="-120"/>
              </a:rPr>
              <a:t>votos </a:t>
            </a:r>
          </a:p>
          <a:p>
            <a:pPr marL="0" indent="0" algn="ctr">
              <a:buNone/>
            </a:pPr>
            <a:r>
              <a:rPr lang="en-US" sz="1200">
                <a:solidFill>
                  <a:srgbClr val="64748B"/>
                </a:solidFill>
                <a:latin typeface="Calibri" pitchFamily="34" charset="0"/>
                <a:ea typeface="Calibri" pitchFamily="34" charset="-122"/>
                <a:cs typeface="Calibri" pitchFamily="34" charset="-120"/>
              </a:rPr>
              <a:t>Recomb</a:t>
            </a:r>
            <a:r>
              <a:rPr lang="en-US" sz="1200" dirty="0">
                <a:solidFill>
                  <a:srgbClr val="64748B"/>
                </a:solidFill>
                <a:latin typeface="Calibri" pitchFamily="34" charset="0"/>
                <a:ea typeface="Calibri" pitchFamily="34" charset="-122"/>
                <a:cs typeface="Calibri" pitchFamily="34" charset="-120"/>
              </a:rPr>
              <a:t>. mixta</a:t>
            </a:r>
            <a:endParaRPr lang="en-US" sz="1200" dirty="0"/>
          </a:p>
        </p:txBody>
      </p:sp>
      <p:sp>
        <p:nvSpPr>
          <p:cNvPr id="19" name="Text 17"/>
          <p:cNvSpPr/>
          <p:nvPr/>
        </p:nvSpPr>
        <p:spPr>
          <a:xfrm>
            <a:off x="457200" y="4352598"/>
            <a:ext cx="4572009"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14 – Votos por estrategia en la encuesta</a:t>
            </a:r>
            <a:endParaRPr lang="en-US" sz="1000" dirty="0"/>
          </a:p>
        </p:txBody>
      </p:sp>
      <p:sp>
        <p:nvSpPr>
          <p:cNvPr id="20" name="Text 18"/>
          <p:cNvSpPr/>
          <p:nvPr/>
        </p:nvSpPr>
        <p:spPr>
          <a:xfrm>
            <a:off x="392308" y="4601886"/>
            <a:ext cx="5017401" cy="228600"/>
          </a:xfrm>
          <a:prstGeom prst="rect">
            <a:avLst/>
          </a:prstGeom>
          <a:noFill/>
          <a:ln/>
        </p:spPr>
        <p:txBody>
          <a:bodyPr wrap="square"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18 de 29 encuestados identificaron correctamente la melodía 'Overworld'.</a:t>
            </a:r>
            <a:endParaRPr lang="en-US" sz="1200" dirty="0"/>
          </a:p>
        </p:txBody>
      </p:sp>
      <p:pic>
        <p:nvPicPr>
          <p:cNvPr id="24" name="Picture 23">
            <a:extLst>
              <a:ext uri="{FF2B5EF4-FFF2-40B4-BE49-F238E27FC236}">
                <a16:creationId xmlns:a16="http://schemas.microsoft.com/office/drawing/2014/main" id="{C9EEBE29-CE10-27DE-F452-C4595A599D92}"/>
              </a:ext>
            </a:extLst>
          </p:cNvPr>
          <p:cNvPicPr>
            <a:picLocks noChangeAspect="1"/>
          </p:cNvPicPr>
          <p:nvPr/>
        </p:nvPicPr>
        <p:blipFill>
          <a:blip r:embed="rId3"/>
          <a:stretch>
            <a:fillRect/>
          </a:stretch>
        </p:blipFill>
        <p:spPr>
          <a:xfrm>
            <a:off x="457200" y="1554942"/>
            <a:ext cx="4572009" cy="2743205"/>
          </a:xfrm>
          <a:prstGeom prst="rect">
            <a:avLst/>
          </a:prstGeom>
          <a:ln w="19050">
            <a:solidFill>
              <a:schemeClr val="accent1"/>
            </a:solidFill>
            <a:prstDash val="lgDash"/>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Interpretación de la Encuesta</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457200" y="1005840"/>
            <a:ext cx="8229600" cy="3657600"/>
          </a:xfrm>
          <a:prstGeom prst="rect">
            <a:avLst/>
          </a:prstGeom>
          <a:noFill/>
          <a:ln/>
        </p:spPr>
        <p:txBody>
          <a:bodyPr wrap="square" rtlCol="0" anchor="t"/>
          <a:lstStyle/>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E5 (4 puntos) fue la más votada (44.8%), resultado consistente con el mejor fitness obtenido.</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Sorprendentemente, E7 (solución aleatoria) quedó en segundo lugar por encima de E6 (estrategia evolutiva).</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Esto sugiere que el AG no logra combinar satisfactoriamente los rasgos musicales de ambas guías.</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El hecho de que una parte de los encuestados reconociera 'Overworld' indica que el AG preservó algunos rasgos melódicos de esa pieza.</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Limitación: la NCD sobre tonos relativos por sí sola es insuficiente para garantizar calidad musical percibida.</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4">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Conclusiones</a:t>
            </a:r>
            <a:endParaRPr lang="en-US" sz="3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Conclusiones</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Shape 2"/>
          <p:cNvSpPr/>
          <p:nvPr/>
        </p:nvSpPr>
        <p:spPr>
          <a:xfrm>
            <a:off x="457200" y="1005840"/>
            <a:ext cx="4023360" cy="1920240"/>
          </a:xfrm>
          <a:prstGeom prst="roundRect">
            <a:avLst>
              <a:gd name="adj" fmla="val 476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5" name="Text 3"/>
          <p:cNvSpPr/>
          <p:nvPr/>
        </p:nvSpPr>
        <p:spPr>
          <a:xfrm>
            <a:off x="594360" y="111556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Perspectiva algorítmica</a:t>
            </a:r>
            <a:endParaRPr lang="en-US" sz="1300" dirty="0"/>
          </a:p>
        </p:txBody>
      </p:sp>
      <p:sp>
        <p:nvSpPr>
          <p:cNvPr id="6" name="Text 4"/>
          <p:cNvSpPr/>
          <p:nvPr/>
        </p:nvSpPr>
        <p:spPr>
          <a:xfrm>
            <a:off x="594360" y="1463040"/>
            <a:ext cx="3749040" cy="132588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La NCD demuestra gran potencial como indicador de similitud entre composiciones: su valor evoluciona en la dirección esperada en todos los experimentos, superando ampliamente a la solución aleatoria.</a:t>
            </a:r>
            <a:endParaRPr lang="en-US" sz="1200" dirty="0"/>
          </a:p>
        </p:txBody>
      </p:sp>
      <p:sp>
        <p:nvSpPr>
          <p:cNvPr id="7" name="Shape 5"/>
          <p:cNvSpPr/>
          <p:nvPr/>
        </p:nvSpPr>
        <p:spPr>
          <a:xfrm>
            <a:off x="4663440" y="1005840"/>
            <a:ext cx="4023360" cy="1920240"/>
          </a:xfrm>
          <a:prstGeom prst="roundRect">
            <a:avLst>
              <a:gd name="adj" fmla="val 476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8" name="Text 6"/>
          <p:cNvSpPr/>
          <p:nvPr/>
        </p:nvSpPr>
        <p:spPr>
          <a:xfrm>
            <a:off x="4800600" y="111556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Perspectiva musical</a:t>
            </a:r>
            <a:endParaRPr lang="en-US" sz="1300" dirty="0"/>
          </a:p>
        </p:txBody>
      </p:sp>
      <p:sp>
        <p:nvSpPr>
          <p:cNvPr id="9" name="Text 7"/>
          <p:cNvSpPr/>
          <p:nvPr/>
        </p:nvSpPr>
        <p:spPr>
          <a:xfrm>
            <a:off x="4800600" y="1463040"/>
            <a:ext cx="3749040" cy="132588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La NCD por sí sola es insuficiente para mezclar componentes musicales de distintas melodías: los rangos tonales y temporales resultantes no cubren los de ambas guías.</a:t>
            </a:r>
            <a:endParaRPr lang="en-US" sz="1200" dirty="0"/>
          </a:p>
        </p:txBody>
      </p:sp>
      <p:sp>
        <p:nvSpPr>
          <p:cNvPr id="10" name="Shape 8"/>
          <p:cNvSpPr/>
          <p:nvPr/>
        </p:nvSpPr>
        <p:spPr>
          <a:xfrm>
            <a:off x="457200" y="3063240"/>
            <a:ext cx="4023360" cy="1737360"/>
          </a:xfrm>
          <a:prstGeom prst="roundRect">
            <a:avLst>
              <a:gd name="adj" fmla="val 5263"/>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11" name="Text 9"/>
          <p:cNvSpPr/>
          <p:nvPr/>
        </p:nvSpPr>
        <p:spPr>
          <a:xfrm>
            <a:off x="594360" y="317296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Trabajo futuro</a:t>
            </a:r>
            <a:endParaRPr lang="en-US" sz="1300" dirty="0"/>
          </a:p>
        </p:txBody>
      </p:sp>
      <p:sp>
        <p:nvSpPr>
          <p:cNvPr id="12" name="Text 10"/>
          <p:cNvSpPr/>
          <p:nvPr/>
        </p:nvSpPr>
        <p:spPr>
          <a:xfrm>
            <a:off x="594360" y="3520440"/>
            <a:ext cx="3749040" cy="114300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Agregar restricciones al rango de tonos/duraciones del individuo. Incorporar más aspectos de las notas (ritmo). Explorar la NCD sobre secuencias decimales con mayor varianza.</a:t>
            </a:r>
            <a:endParaRPr lang="en-US" sz="1200" dirty="0"/>
          </a:p>
        </p:txBody>
      </p:sp>
      <p:sp>
        <p:nvSpPr>
          <p:cNvPr id="13" name="Shape 11"/>
          <p:cNvSpPr/>
          <p:nvPr/>
        </p:nvSpPr>
        <p:spPr>
          <a:xfrm>
            <a:off x="4663440" y="3063240"/>
            <a:ext cx="4023360" cy="1737360"/>
          </a:xfrm>
          <a:prstGeom prst="roundRect">
            <a:avLst>
              <a:gd name="adj" fmla="val 5263"/>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14" name="Text 12"/>
          <p:cNvSpPr/>
          <p:nvPr/>
        </p:nvSpPr>
        <p:spPr>
          <a:xfrm>
            <a:off x="4800600" y="317296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Mejor estrategia</a:t>
            </a:r>
            <a:endParaRPr lang="en-US" sz="1300" dirty="0"/>
          </a:p>
        </p:txBody>
      </p:sp>
      <p:sp>
        <p:nvSpPr>
          <p:cNvPr id="15" name="Text 13"/>
          <p:cNvSpPr/>
          <p:nvPr/>
        </p:nvSpPr>
        <p:spPr>
          <a:xfrm>
            <a:off x="4800600" y="3520440"/>
            <a:ext cx="3749040" cy="114300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E5 (recombinación de 4 puntos) obtuvo los mejores resultados de fitness y fue la preferida en la </a:t>
            </a:r>
            <a:r>
              <a:rPr lang="en-US" sz="1200">
                <a:solidFill>
                  <a:srgbClr val="1A1A2E"/>
                </a:solidFill>
                <a:latin typeface="Calibri" pitchFamily="34" charset="0"/>
                <a:ea typeface="Calibri" pitchFamily="34" charset="-122"/>
                <a:cs typeface="Calibri" pitchFamily="34" charset="-120"/>
              </a:rPr>
              <a:t>encuesta perceptiva, </a:t>
            </a:r>
            <a:r>
              <a:rPr lang="en-US" sz="1200" dirty="0">
                <a:solidFill>
                  <a:srgbClr val="1A1A2E"/>
                </a:solidFill>
                <a:latin typeface="Calibri" pitchFamily="34" charset="0"/>
                <a:ea typeface="Calibri" pitchFamily="34" charset="-122"/>
                <a:cs typeface="Calibri" pitchFamily="34" charset="-120"/>
              </a:rPr>
              <a:t>aunque por un margen pequeño.</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6">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txBody>
          <a:bodyPr/>
          <a:lstStyle/>
          <a:p>
            <a:endParaRPr lang="es-419"/>
          </a:p>
        </p:txBody>
      </p:sp>
      <p:sp>
        <p:nvSpPr>
          <p:cNvPr id="3" name="Text 1"/>
          <p:cNvSpPr/>
          <p:nvPr/>
        </p:nvSpPr>
        <p:spPr>
          <a:xfrm>
            <a:off x="640080" y="1840230"/>
            <a:ext cx="7863840" cy="146304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¡Gracias!</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298</TotalTime>
  <Words>1564</Words>
  <Application>Microsoft Office PowerPoint</Application>
  <PresentationFormat>On-screen Show (16:9)</PresentationFormat>
  <Paragraphs>276</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Music Track Mixer – Experimentos</dc:title>
  <dc:subject>PptxGenJS Presentation</dc:subject>
  <dc:creator>PptxGenJS</dc:creator>
  <cp:lastModifiedBy>UNO</cp:lastModifiedBy>
  <cp:revision>8</cp:revision>
  <dcterms:created xsi:type="dcterms:W3CDTF">2026-06-23T19:18:51Z</dcterms:created>
  <dcterms:modified xsi:type="dcterms:W3CDTF">2026-06-25T17:23:08Z</dcterms:modified>
</cp:coreProperties>
</file>